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6858000" cy="9144000"/>
  <p:embeddedFontLst>
    <p:embeddedFont>
      <p:font typeface="Puimek Font TH" charset="1" panose="02000503000000000000"/>
      <p:regular r:id="rId42"/>
    </p:embeddedFont>
    <p:embeddedFont>
      <p:font typeface="Itim" charset="1" panose="00000500000000000000"/>
      <p:regular r:id="rId43"/>
    </p:embeddedFont>
    <p:embeddedFont>
      <p:font typeface="Th Sarabun New Bold" charset="1" panose="020B0500040200020003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14" Target="../media/image20.png" Type="http://schemas.openxmlformats.org/officeDocument/2006/relationships/image"/><Relationship Id="rId15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14" Target="../media/image24.png" Type="http://schemas.openxmlformats.org/officeDocument/2006/relationships/image"/><Relationship Id="rId15" Target="../media/image2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20.png" Type="http://schemas.openxmlformats.org/officeDocument/2006/relationships/image"/><Relationship Id="rId13" Target="../media/image26.png" Type="http://schemas.openxmlformats.org/officeDocument/2006/relationships/image"/><Relationship Id="rId14" Target="../media/image2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28.png" Type="http://schemas.openxmlformats.org/officeDocument/2006/relationships/image"/><Relationship Id="rId13" Target="../media/image29.png" Type="http://schemas.openxmlformats.org/officeDocument/2006/relationships/image"/><Relationship Id="rId14" Target="../media/image30.png" Type="http://schemas.openxmlformats.org/officeDocument/2006/relationships/image"/><Relationship Id="rId15" Target="../media/image3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32.png" Type="http://schemas.openxmlformats.org/officeDocument/2006/relationships/image"/><Relationship Id="rId13" Target="../media/image33.png" Type="http://schemas.openxmlformats.org/officeDocument/2006/relationships/image"/><Relationship Id="rId14" Target="../media/image34.png" Type="http://schemas.openxmlformats.org/officeDocument/2006/relationships/image"/><Relationship Id="rId15" Target="../media/image3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3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9.png" Type="http://schemas.openxmlformats.org/officeDocument/2006/relationships/image"/><Relationship Id="rId13" Target="../media/image18.png" Type="http://schemas.openxmlformats.org/officeDocument/2006/relationships/image"/><Relationship Id="rId14" Target="../media/image20.png" Type="http://schemas.openxmlformats.org/officeDocument/2006/relationships/image"/><Relationship Id="rId15" Target="../media/image3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38.png" Type="http://schemas.openxmlformats.org/officeDocument/2006/relationships/image"/><Relationship Id="rId13" Target="../media/image39.png" Type="http://schemas.openxmlformats.org/officeDocument/2006/relationships/image"/><Relationship Id="rId14" Target="../media/image40.png" Type="http://schemas.openxmlformats.org/officeDocument/2006/relationships/image"/><Relationship Id="rId15" Target="../media/image4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42.png" Type="http://schemas.openxmlformats.org/officeDocument/2006/relationships/image"/><Relationship Id="rId13" Target="../media/image43.png" Type="http://schemas.openxmlformats.org/officeDocument/2006/relationships/image"/><Relationship Id="rId14" Target="../media/image44.png" Type="http://schemas.openxmlformats.org/officeDocument/2006/relationships/image"/><Relationship Id="rId15" Target="../media/image4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46.png" Type="http://schemas.openxmlformats.org/officeDocument/2006/relationships/image"/><Relationship Id="rId13" Target="../media/image47.png" Type="http://schemas.openxmlformats.org/officeDocument/2006/relationships/image"/><Relationship Id="rId14" Target="../media/image4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4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50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51.jpeg" Type="http://schemas.openxmlformats.org/officeDocument/2006/relationships/image"/><Relationship Id="rId13" Target="../media/image52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53.jpeg" Type="http://schemas.openxmlformats.org/officeDocument/2006/relationships/image"/><Relationship Id="rId13" Target="../media/image54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5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56.png" Type="http://schemas.openxmlformats.org/officeDocument/2006/relationships/image"/><Relationship Id="rId13" Target="../media/image5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58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5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60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61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62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63.png" Type="http://schemas.openxmlformats.org/officeDocument/2006/relationships/image"/><Relationship Id="rId13" Target="../media/image6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5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54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65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66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3289515" y="-1693231"/>
            <a:ext cx="7151783" cy="4738056"/>
          </a:xfrm>
          <a:custGeom>
            <a:avLst/>
            <a:gdLst/>
            <a:ahLst/>
            <a:cxnLst/>
            <a:rect r="r" b="b" t="t" l="l"/>
            <a:pathLst>
              <a:path h="4738056" w="7151783">
                <a:moveTo>
                  <a:pt x="0" y="4738056"/>
                </a:moveTo>
                <a:lnTo>
                  <a:pt x="7151783" y="4738056"/>
                </a:lnTo>
                <a:lnTo>
                  <a:pt x="7151783" y="0"/>
                </a:lnTo>
                <a:lnTo>
                  <a:pt x="0" y="0"/>
                </a:lnTo>
                <a:lnTo>
                  <a:pt x="0" y="473805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6742874" y="605283"/>
            <a:ext cx="2380776" cy="2890567"/>
          </a:xfrm>
          <a:custGeom>
            <a:avLst/>
            <a:gdLst/>
            <a:ahLst/>
            <a:cxnLst/>
            <a:rect r="r" b="b" t="t" l="l"/>
            <a:pathLst>
              <a:path h="2890567" w="2380776">
                <a:moveTo>
                  <a:pt x="0" y="0"/>
                </a:moveTo>
                <a:lnTo>
                  <a:pt x="2380776" y="0"/>
                </a:lnTo>
                <a:lnTo>
                  <a:pt x="2380776" y="2890567"/>
                </a:lnTo>
                <a:lnTo>
                  <a:pt x="0" y="28905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64514" y="-607003"/>
            <a:ext cx="3170636" cy="2657569"/>
          </a:xfrm>
          <a:custGeom>
            <a:avLst/>
            <a:gdLst/>
            <a:ahLst/>
            <a:cxnLst/>
            <a:rect r="r" b="b" t="t" l="l"/>
            <a:pathLst>
              <a:path h="2657569" w="3170636">
                <a:moveTo>
                  <a:pt x="0" y="0"/>
                </a:moveTo>
                <a:lnTo>
                  <a:pt x="3170636" y="0"/>
                </a:lnTo>
                <a:lnTo>
                  <a:pt x="3170636" y="2657569"/>
                </a:lnTo>
                <a:lnTo>
                  <a:pt x="0" y="26575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11099">
            <a:off x="13997861" y="5621011"/>
            <a:ext cx="6522879" cy="5253882"/>
          </a:xfrm>
          <a:custGeom>
            <a:avLst/>
            <a:gdLst/>
            <a:ahLst/>
            <a:cxnLst/>
            <a:rect r="r" b="b" t="t" l="l"/>
            <a:pathLst>
              <a:path h="5253882" w="6522879">
                <a:moveTo>
                  <a:pt x="0" y="0"/>
                </a:moveTo>
                <a:lnTo>
                  <a:pt x="6522878" y="0"/>
                </a:lnTo>
                <a:lnTo>
                  <a:pt x="6522878" y="5253882"/>
                </a:lnTo>
                <a:lnTo>
                  <a:pt x="0" y="52538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657560" y="7659651"/>
            <a:ext cx="7614767" cy="6368714"/>
          </a:xfrm>
          <a:custGeom>
            <a:avLst/>
            <a:gdLst/>
            <a:ahLst/>
            <a:cxnLst/>
            <a:rect r="r" b="b" t="t" l="l"/>
            <a:pathLst>
              <a:path h="6368714" w="7614767">
                <a:moveTo>
                  <a:pt x="0" y="0"/>
                </a:moveTo>
                <a:lnTo>
                  <a:pt x="7614767" y="0"/>
                </a:lnTo>
                <a:lnTo>
                  <a:pt x="7614767" y="6368714"/>
                </a:lnTo>
                <a:lnTo>
                  <a:pt x="0" y="6368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71880">
            <a:off x="658986" y="7361321"/>
            <a:ext cx="1510953" cy="2580820"/>
          </a:xfrm>
          <a:custGeom>
            <a:avLst/>
            <a:gdLst/>
            <a:ahLst/>
            <a:cxnLst/>
            <a:rect r="r" b="b" t="t" l="l"/>
            <a:pathLst>
              <a:path h="2580820" w="1510953">
                <a:moveTo>
                  <a:pt x="0" y="0"/>
                </a:moveTo>
                <a:lnTo>
                  <a:pt x="1510953" y="0"/>
                </a:lnTo>
                <a:lnTo>
                  <a:pt x="1510953" y="2580820"/>
                </a:lnTo>
                <a:lnTo>
                  <a:pt x="0" y="25808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5400000">
            <a:off x="10314559" y="8111373"/>
            <a:ext cx="3075900" cy="3980577"/>
          </a:xfrm>
          <a:custGeom>
            <a:avLst/>
            <a:gdLst/>
            <a:ahLst/>
            <a:cxnLst/>
            <a:rect r="r" b="b" t="t" l="l"/>
            <a:pathLst>
              <a:path h="3980577" w="3075900">
                <a:moveTo>
                  <a:pt x="3075901" y="0"/>
                </a:moveTo>
                <a:lnTo>
                  <a:pt x="0" y="0"/>
                </a:lnTo>
                <a:lnTo>
                  <a:pt x="0" y="3980577"/>
                </a:lnTo>
                <a:lnTo>
                  <a:pt x="3075901" y="3980577"/>
                </a:lnTo>
                <a:lnTo>
                  <a:pt x="3075901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5400000">
            <a:off x="2655980" y="-1540727"/>
            <a:ext cx="2285515" cy="2957726"/>
          </a:xfrm>
          <a:custGeom>
            <a:avLst/>
            <a:gdLst/>
            <a:ahLst/>
            <a:cxnLst/>
            <a:rect r="r" b="b" t="t" l="l"/>
            <a:pathLst>
              <a:path h="2957726" w="2285515">
                <a:moveTo>
                  <a:pt x="2285515" y="0"/>
                </a:moveTo>
                <a:lnTo>
                  <a:pt x="0" y="0"/>
                </a:lnTo>
                <a:lnTo>
                  <a:pt x="0" y="2957726"/>
                </a:lnTo>
                <a:lnTo>
                  <a:pt x="2285515" y="2957726"/>
                </a:lnTo>
                <a:lnTo>
                  <a:pt x="2285515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162258" y="9455535"/>
            <a:ext cx="3334760" cy="2776946"/>
          </a:xfrm>
          <a:custGeom>
            <a:avLst/>
            <a:gdLst/>
            <a:ahLst/>
            <a:cxnLst/>
            <a:rect r="r" b="b" t="t" l="l"/>
            <a:pathLst>
              <a:path h="2776946" w="3334760">
                <a:moveTo>
                  <a:pt x="0" y="0"/>
                </a:moveTo>
                <a:lnTo>
                  <a:pt x="3334760" y="0"/>
                </a:lnTo>
                <a:lnTo>
                  <a:pt x="3334760" y="2776946"/>
                </a:lnTo>
                <a:lnTo>
                  <a:pt x="0" y="277694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842798" y="-1204621"/>
            <a:ext cx="3334760" cy="2776946"/>
          </a:xfrm>
          <a:custGeom>
            <a:avLst/>
            <a:gdLst/>
            <a:ahLst/>
            <a:cxnLst/>
            <a:rect r="r" b="b" t="t" l="l"/>
            <a:pathLst>
              <a:path h="2776946" w="3334760">
                <a:moveTo>
                  <a:pt x="0" y="0"/>
                </a:moveTo>
                <a:lnTo>
                  <a:pt x="3334760" y="0"/>
                </a:lnTo>
                <a:lnTo>
                  <a:pt x="3334760" y="2776945"/>
                </a:lnTo>
                <a:lnTo>
                  <a:pt x="0" y="277694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149823" y="1810449"/>
            <a:ext cx="14064757" cy="211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95"/>
              </a:lnSpc>
            </a:pPr>
            <a:r>
              <a:rPr lang="en-US" sz="8799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โครงงาน</a:t>
            </a:r>
            <a:r>
              <a:rPr lang="en-US" sz="8799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 การเขียนโปรแกรมเชิงอ็อบเจกต์และโครงสร้างข้อมูล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829638" y="6771301"/>
            <a:ext cx="7271651" cy="888350"/>
            <a:chOff x="0" y="0"/>
            <a:chExt cx="1915167" cy="2339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15167" cy="233969"/>
            </a:xfrm>
            <a:custGeom>
              <a:avLst/>
              <a:gdLst/>
              <a:ahLst/>
              <a:cxnLst/>
              <a:rect r="r" b="b" t="t" l="l"/>
              <a:pathLst>
                <a:path h="233969" w="1915167">
                  <a:moveTo>
                    <a:pt x="106467" y="0"/>
                  </a:moveTo>
                  <a:lnTo>
                    <a:pt x="1808700" y="0"/>
                  </a:lnTo>
                  <a:cubicBezTo>
                    <a:pt x="1836937" y="0"/>
                    <a:pt x="1864017" y="11217"/>
                    <a:pt x="1883984" y="31184"/>
                  </a:cubicBezTo>
                  <a:cubicBezTo>
                    <a:pt x="1903950" y="51150"/>
                    <a:pt x="1915167" y="78230"/>
                    <a:pt x="1915167" y="106467"/>
                  </a:cubicBezTo>
                  <a:lnTo>
                    <a:pt x="1915167" y="127502"/>
                  </a:lnTo>
                  <a:cubicBezTo>
                    <a:pt x="1915167" y="155738"/>
                    <a:pt x="1903950" y="182819"/>
                    <a:pt x="1883984" y="202785"/>
                  </a:cubicBezTo>
                  <a:cubicBezTo>
                    <a:pt x="1864017" y="222752"/>
                    <a:pt x="1836937" y="233969"/>
                    <a:pt x="1808700" y="233969"/>
                  </a:cubicBezTo>
                  <a:lnTo>
                    <a:pt x="106467" y="233969"/>
                  </a:lnTo>
                  <a:cubicBezTo>
                    <a:pt x="78230" y="233969"/>
                    <a:pt x="51150" y="222752"/>
                    <a:pt x="31184" y="202785"/>
                  </a:cubicBezTo>
                  <a:cubicBezTo>
                    <a:pt x="11217" y="182819"/>
                    <a:pt x="0" y="155738"/>
                    <a:pt x="0" y="127502"/>
                  </a:cubicBezTo>
                  <a:lnTo>
                    <a:pt x="0" y="106467"/>
                  </a:lnTo>
                  <a:cubicBezTo>
                    <a:pt x="0" y="78230"/>
                    <a:pt x="11217" y="51150"/>
                    <a:pt x="31184" y="31184"/>
                  </a:cubicBezTo>
                  <a:cubicBezTo>
                    <a:pt x="51150" y="11217"/>
                    <a:pt x="78230" y="0"/>
                    <a:pt x="106467" y="0"/>
                  </a:cubicBezTo>
                  <a:close/>
                </a:path>
              </a:pathLst>
            </a:custGeom>
            <a:solidFill>
              <a:srgbClr val="F8F4D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15167" cy="272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278670" y="6914797"/>
            <a:ext cx="6441411" cy="74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9"/>
              </a:lnSpc>
            </a:pPr>
            <a:r>
              <a:rPr lang="en-US" sz="56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By Group B07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49823" y="4910444"/>
            <a:ext cx="14255957" cy="589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7"/>
              </a:lnSpc>
            </a:pPr>
            <a:r>
              <a:rPr lang="en-US" sz="4715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โปรแกรม</a:t>
            </a:r>
            <a:r>
              <a:rPr lang="en-US" sz="4715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การจองขน-ส่งจาก SUT-ไปตัวเมืองนครราชสีมา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3916805" y="-1693231"/>
            <a:ext cx="6524493" cy="4322477"/>
          </a:xfrm>
          <a:custGeom>
            <a:avLst/>
            <a:gdLst/>
            <a:ahLst/>
            <a:cxnLst/>
            <a:rect r="r" b="b" t="t" l="l"/>
            <a:pathLst>
              <a:path h="4322477" w="6524493">
                <a:moveTo>
                  <a:pt x="0" y="4322477"/>
                </a:moveTo>
                <a:lnTo>
                  <a:pt x="6524493" y="4322477"/>
                </a:lnTo>
                <a:lnTo>
                  <a:pt x="6524493" y="0"/>
                </a:lnTo>
                <a:lnTo>
                  <a:pt x="0" y="0"/>
                </a:lnTo>
                <a:lnTo>
                  <a:pt x="0" y="432247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067267" y="403678"/>
            <a:ext cx="2171956" cy="2637032"/>
          </a:xfrm>
          <a:custGeom>
            <a:avLst/>
            <a:gdLst/>
            <a:ahLst/>
            <a:cxnLst/>
            <a:rect r="r" b="b" t="t" l="l"/>
            <a:pathLst>
              <a:path h="2637032" w="2171956">
                <a:moveTo>
                  <a:pt x="0" y="0"/>
                </a:moveTo>
                <a:lnTo>
                  <a:pt x="2171955" y="0"/>
                </a:lnTo>
                <a:lnTo>
                  <a:pt x="2171955" y="2637032"/>
                </a:lnTo>
                <a:lnTo>
                  <a:pt x="0" y="26370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3469880" cy="2908390"/>
          </a:xfrm>
          <a:custGeom>
            <a:avLst/>
            <a:gdLst/>
            <a:ahLst/>
            <a:cxnLst/>
            <a:rect r="r" b="b" t="t" l="l"/>
            <a:pathLst>
              <a:path h="2908390" w="3469880">
                <a:moveTo>
                  <a:pt x="0" y="0"/>
                </a:moveTo>
                <a:lnTo>
                  <a:pt x="3469880" y="0"/>
                </a:lnTo>
                <a:lnTo>
                  <a:pt x="3469880" y="2908391"/>
                </a:lnTo>
                <a:lnTo>
                  <a:pt x="0" y="29083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11099">
            <a:off x="14951599" y="6438724"/>
            <a:ext cx="5544026" cy="4465461"/>
          </a:xfrm>
          <a:custGeom>
            <a:avLst/>
            <a:gdLst/>
            <a:ahLst/>
            <a:cxnLst/>
            <a:rect r="r" b="b" t="t" l="l"/>
            <a:pathLst>
              <a:path h="4465461" w="5544026">
                <a:moveTo>
                  <a:pt x="0" y="0"/>
                </a:moveTo>
                <a:lnTo>
                  <a:pt x="5544026" y="0"/>
                </a:lnTo>
                <a:lnTo>
                  <a:pt x="5544026" y="4465461"/>
                </a:lnTo>
                <a:lnTo>
                  <a:pt x="0" y="44654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657560" y="7927871"/>
            <a:ext cx="6730186" cy="5628883"/>
          </a:xfrm>
          <a:custGeom>
            <a:avLst/>
            <a:gdLst/>
            <a:ahLst/>
            <a:cxnLst/>
            <a:rect r="r" b="b" t="t" l="l"/>
            <a:pathLst>
              <a:path h="5628883" w="6730186">
                <a:moveTo>
                  <a:pt x="0" y="0"/>
                </a:moveTo>
                <a:lnTo>
                  <a:pt x="6730186" y="0"/>
                </a:lnTo>
                <a:lnTo>
                  <a:pt x="6730186" y="5628883"/>
                </a:lnTo>
                <a:lnTo>
                  <a:pt x="0" y="56288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71880">
            <a:off x="389881" y="7664197"/>
            <a:ext cx="1335431" cy="2281015"/>
          </a:xfrm>
          <a:custGeom>
            <a:avLst/>
            <a:gdLst/>
            <a:ahLst/>
            <a:cxnLst/>
            <a:rect r="r" b="b" t="t" l="l"/>
            <a:pathLst>
              <a:path h="2281015" w="1335431">
                <a:moveTo>
                  <a:pt x="0" y="0"/>
                </a:moveTo>
                <a:lnTo>
                  <a:pt x="1335431" y="0"/>
                </a:lnTo>
                <a:lnTo>
                  <a:pt x="1335431" y="2281015"/>
                </a:lnTo>
                <a:lnTo>
                  <a:pt x="0" y="22810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5400000">
            <a:off x="11021976" y="8296712"/>
            <a:ext cx="3075900" cy="3980577"/>
          </a:xfrm>
          <a:custGeom>
            <a:avLst/>
            <a:gdLst/>
            <a:ahLst/>
            <a:cxnLst/>
            <a:rect r="r" b="b" t="t" l="l"/>
            <a:pathLst>
              <a:path h="3980577" w="3075900">
                <a:moveTo>
                  <a:pt x="3075901" y="0"/>
                </a:moveTo>
                <a:lnTo>
                  <a:pt x="0" y="0"/>
                </a:lnTo>
                <a:lnTo>
                  <a:pt x="0" y="3980576"/>
                </a:lnTo>
                <a:lnTo>
                  <a:pt x="3075901" y="3980576"/>
                </a:lnTo>
                <a:lnTo>
                  <a:pt x="3075901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5400000">
            <a:off x="3497960" y="-1572448"/>
            <a:ext cx="2501222" cy="3236875"/>
          </a:xfrm>
          <a:custGeom>
            <a:avLst/>
            <a:gdLst/>
            <a:ahLst/>
            <a:cxnLst/>
            <a:rect r="r" b="b" t="t" l="l"/>
            <a:pathLst>
              <a:path h="3236875" w="2501222">
                <a:moveTo>
                  <a:pt x="2501222" y="0"/>
                </a:moveTo>
                <a:lnTo>
                  <a:pt x="0" y="0"/>
                </a:lnTo>
                <a:lnTo>
                  <a:pt x="0" y="3236875"/>
                </a:lnTo>
                <a:lnTo>
                  <a:pt x="2501222" y="3236875"/>
                </a:lnTo>
                <a:lnTo>
                  <a:pt x="2501222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02357" y="9515133"/>
            <a:ext cx="2947373" cy="2454358"/>
          </a:xfrm>
          <a:custGeom>
            <a:avLst/>
            <a:gdLst/>
            <a:ahLst/>
            <a:cxnLst/>
            <a:rect r="r" b="b" t="t" l="l"/>
            <a:pathLst>
              <a:path h="2454358" w="2947373">
                <a:moveTo>
                  <a:pt x="0" y="0"/>
                </a:moveTo>
                <a:lnTo>
                  <a:pt x="2947373" y="0"/>
                </a:lnTo>
                <a:lnTo>
                  <a:pt x="2947373" y="2454358"/>
                </a:lnTo>
                <a:lnTo>
                  <a:pt x="0" y="24543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916805" y="-1111111"/>
            <a:ext cx="3042265" cy="2533377"/>
          </a:xfrm>
          <a:custGeom>
            <a:avLst/>
            <a:gdLst/>
            <a:ahLst/>
            <a:cxnLst/>
            <a:rect r="r" b="b" t="t" l="l"/>
            <a:pathLst>
              <a:path h="2533377" w="3042265">
                <a:moveTo>
                  <a:pt x="0" y="0"/>
                </a:moveTo>
                <a:lnTo>
                  <a:pt x="3042265" y="0"/>
                </a:lnTo>
                <a:lnTo>
                  <a:pt x="3042265" y="2533377"/>
                </a:lnTo>
                <a:lnTo>
                  <a:pt x="0" y="253337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376347" y="2461203"/>
            <a:ext cx="10173868" cy="711496"/>
            <a:chOff x="0" y="0"/>
            <a:chExt cx="2679537" cy="1873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79537" cy="187390"/>
            </a:xfrm>
            <a:custGeom>
              <a:avLst/>
              <a:gdLst/>
              <a:ahLst/>
              <a:cxnLst/>
              <a:rect r="r" b="b" t="t" l="l"/>
              <a:pathLst>
                <a:path h="187390" w="2679537">
                  <a:moveTo>
                    <a:pt x="76096" y="0"/>
                  </a:moveTo>
                  <a:lnTo>
                    <a:pt x="2603441" y="0"/>
                  </a:lnTo>
                  <a:cubicBezTo>
                    <a:pt x="2623623" y="0"/>
                    <a:pt x="2642978" y="8017"/>
                    <a:pt x="2657249" y="22288"/>
                  </a:cubicBezTo>
                  <a:cubicBezTo>
                    <a:pt x="2671520" y="36559"/>
                    <a:pt x="2679537" y="55914"/>
                    <a:pt x="2679537" y="76096"/>
                  </a:cubicBezTo>
                  <a:lnTo>
                    <a:pt x="2679537" y="111294"/>
                  </a:lnTo>
                  <a:cubicBezTo>
                    <a:pt x="2679537" y="131476"/>
                    <a:pt x="2671520" y="150831"/>
                    <a:pt x="2657249" y="165102"/>
                  </a:cubicBezTo>
                  <a:cubicBezTo>
                    <a:pt x="2642978" y="179373"/>
                    <a:pt x="2623623" y="187390"/>
                    <a:pt x="2603441" y="187390"/>
                  </a:cubicBezTo>
                  <a:lnTo>
                    <a:pt x="76096" y="187390"/>
                  </a:lnTo>
                  <a:cubicBezTo>
                    <a:pt x="55914" y="187390"/>
                    <a:pt x="36559" y="179373"/>
                    <a:pt x="22288" y="165102"/>
                  </a:cubicBezTo>
                  <a:cubicBezTo>
                    <a:pt x="8017" y="150831"/>
                    <a:pt x="0" y="131476"/>
                    <a:pt x="0" y="111294"/>
                  </a:cubicBezTo>
                  <a:lnTo>
                    <a:pt x="0" y="76096"/>
                  </a:lnTo>
                  <a:cubicBezTo>
                    <a:pt x="0" y="55914"/>
                    <a:pt x="8017" y="36559"/>
                    <a:pt x="22288" y="22288"/>
                  </a:cubicBezTo>
                  <a:cubicBezTo>
                    <a:pt x="36559" y="8017"/>
                    <a:pt x="55914" y="0"/>
                    <a:pt x="76096" y="0"/>
                  </a:cubicBezTo>
                  <a:close/>
                </a:path>
              </a:pathLst>
            </a:custGeom>
            <a:solidFill>
              <a:srgbClr val="F8F4D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679537" cy="225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072626" y="796198"/>
            <a:ext cx="8488885" cy="1277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99"/>
              </a:lnSpc>
            </a:pPr>
            <a:r>
              <a:rPr lang="en-US" sz="10216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รายชื่อสมาชิก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10171" y="2537403"/>
            <a:ext cx="10140044" cy="63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0"/>
              </a:lnSpc>
            </a:pPr>
            <a:r>
              <a:rPr lang="en-US" sz="4720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นายคนธ์พงษ์ เชาวน์ธนากิตติ์</a:t>
            </a:r>
            <a:r>
              <a:rPr lang="en-US" sz="4720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B6701598 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376347" y="3563224"/>
            <a:ext cx="10173868" cy="711496"/>
            <a:chOff x="0" y="0"/>
            <a:chExt cx="2679537" cy="1873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79537" cy="187390"/>
            </a:xfrm>
            <a:custGeom>
              <a:avLst/>
              <a:gdLst/>
              <a:ahLst/>
              <a:cxnLst/>
              <a:rect r="r" b="b" t="t" l="l"/>
              <a:pathLst>
                <a:path h="187390" w="2679537">
                  <a:moveTo>
                    <a:pt x="76096" y="0"/>
                  </a:moveTo>
                  <a:lnTo>
                    <a:pt x="2603441" y="0"/>
                  </a:lnTo>
                  <a:cubicBezTo>
                    <a:pt x="2623623" y="0"/>
                    <a:pt x="2642978" y="8017"/>
                    <a:pt x="2657249" y="22288"/>
                  </a:cubicBezTo>
                  <a:cubicBezTo>
                    <a:pt x="2671520" y="36559"/>
                    <a:pt x="2679537" y="55914"/>
                    <a:pt x="2679537" y="76096"/>
                  </a:cubicBezTo>
                  <a:lnTo>
                    <a:pt x="2679537" y="111294"/>
                  </a:lnTo>
                  <a:cubicBezTo>
                    <a:pt x="2679537" y="131476"/>
                    <a:pt x="2671520" y="150831"/>
                    <a:pt x="2657249" y="165102"/>
                  </a:cubicBezTo>
                  <a:cubicBezTo>
                    <a:pt x="2642978" y="179373"/>
                    <a:pt x="2623623" y="187390"/>
                    <a:pt x="2603441" y="187390"/>
                  </a:cubicBezTo>
                  <a:lnTo>
                    <a:pt x="76096" y="187390"/>
                  </a:lnTo>
                  <a:cubicBezTo>
                    <a:pt x="55914" y="187390"/>
                    <a:pt x="36559" y="179373"/>
                    <a:pt x="22288" y="165102"/>
                  </a:cubicBezTo>
                  <a:cubicBezTo>
                    <a:pt x="8017" y="150831"/>
                    <a:pt x="0" y="131476"/>
                    <a:pt x="0" y="111294"/>
                  </a:cubicBezTo>
                  <a:lnTo>
                    <a:pt x="0" y="76096"/>
                  </a:lnTo>
                  <a:cubicBezTo>
                    <a:pt x="0" y="55914"/>
                    <a:pt x="8017" y="36559"/>
                    <a:pt x="22288" y="22288"/>
                  </a:cubicBezTo>
                  <a:cubicBezTo>
                    <a:pt x="36559" y="8017"/>
                    <a:pt x="55914" y="0"/>
                    <a:pt x="76096" y="0"/>
                  </a:cubicBezTo>
                  <a:close/>
                </a:path>
              </a:pathLst>
            </a:custGeom>
            <a:solidFill>
              <a:srgbClr val="F8F4D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679537" cy="225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410171" y="3639424"/>
            <a:ext cx="10140044" cy="63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0"/>
              </a:lnSpc>
            </a:pPr>
            <a:r>
              <a:rPr lang="en-US" sz="4720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นายวิธวินท์ ระวังจังหรีด</a:t>
            </a:r>
            <a:r>
              <a:rPr lang="en-US" sz="4720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B6703165 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376347" y="4665245"/>
            <a:ext cx="10173868" cy="711496"/>
            <a:chOff x="0" y="0"/>
            <a:chExt cx="2679537" cy="1873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79537" cy="187390"/>
            </a:xfrm>
            <a:custGeom>
              <a:avLst/>
              <a:gdLst/>
              <a:ahLst/>
              <a:cxnLst/>
              <a:rect r="r" b="b" t="t" l="l"/>
              <a:pathLst>
                <a:path h="187390" w="2679537">
                  <a:moveTo>
                    <a:pt x="76096" y="0"/>
                  </a:moveTo>
                  <a:lnTo>
                    <a:pt x="2603441" y="0"/>
                  </a:lnTo>
                  <a:cubicBezTo>
                    <a:pt x="2623623" y="0"/>
                    <a:pt x="2642978" y="8017"/>
                    <a:pt x="2657249" y="22288"/>
                  </a:cubicBezTo>
                  <a:cubicBezTo>
                    <a:pt x="2671520" y="36559"/>
                    <a:pt x="2679537" y="55914"/>
                    <a:pt x="2679537" y="76096"/>
                  </a:cubicBezTo>
                  <a:lnTo>
                    <a:pt x="2679537" y="111294"/>
                  </a:lnTo>
                  <a:cubicBezTo>
                    <a:pt x="2679537" y="131476"/>
                    <a:pt x="2671520" y="150831"/>
                    <a:pt x="2657249" y="165102"/>
                  </a:cubicBezTo>
                  <a:cubicBezTo>
                    <a:pt x="2642978" y="179373"/>
                    <a:pt x="2623623" y="187390"/>
                    <a:pt x="2603441" y="187390"/>
                  </a:cubicBezTo>
                  <a:lnTo>
                    <a:pt x="76096" y="187390"/>
                  </a:lnTo>
                  <a:cubicBezTo>
                    <a:pt x="55914" y="187390"/>
                    <a:pt x="36559" y="179373"/>
                    <a:pt x="22288" y="165102"/>
                  </a:cubicBezTo>
                  <a:cubicBezTo>
                    <a:pt x="8017" y="150831"/>
                    <a:pt x="0" y="131476"/>
                    <a:pt x="0" y="111294"/>
                  </a:cubicBezTo>
                  <a:lnTo>
                    <a:pt x="0" y="76096"/>
                  </a:lnTo>
                  <a:cubicBezTo>
                    <a:pt x="0" y="55914"/>
                    <a:pt x="8017" y="36559"/>
                    <a:pt x="22288" y="22288"/>
                  </a:cubicBezTo>
                  <a:cubicBezTo>
                    <a:pt x="36559" y="8017"/>
                    <a:pt x="55914" y="0"/>
                    <a:pt x="76096" y="0"/>
                  </a:cubicBezTo>
                  <a:close/>
                </a:path>
              </a:pathLst>
            </a:custGeom>
            <a:solidFill>
              <a:srgbClr val="F8F4D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679537" cy="225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410171" y="4741445"/>
            <a:ext cx="10140044" cy="63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0"/>
              </a:lnSpc>
            </a:pPr>
            <a:r>
              <a:rPr lang="en-US" sz="4720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นายชิติพัทธ์</a:t>
            </a:r>
            <a:r>
              <a:rPr lang="en-US" sz="4720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สีสุด B6703271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376347" y="5767266"/>
            <a:ext cx="10173868" cy="711496"/>
            <a:chOff x="0" y="0"/>
            <a:chExt cx="2679537" cy="1873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679537" cy="187390"/>
            </a:xfrm>
            <a:custGeom>
              <a:avLst/>
              <a:gdLst/>
              <a:ahLst/>
              <a:cxnLst/>
              <a:rect r="r" b="b" t="t" l="l"/>
              <a:pathLst>
                <a:path h="187390" w="2679537">
                  <a:moveTo>
                    <a:pt x="76096" y="0"/>
                  </a:moveTo>
                  <a:lnTo>
                    <a:pt x="2603441" y="0"/>
                  </a:lnTo>
                  <a:cubicBezTo>
                    <a:pt x="2623623" y="0"/>
                    <a:pt x="2642978" y="8017"/>
                    <a:pt x="2657249" y="22288"/>
                  </a:cubicBezTo>
                  <a:cubicBezTo>
                    <a:pt x="2671520" y="36559"/>
                    <a:pt x="2679537" y="55914"/>
                    <a:pt x="2679537" y="76096"/>
                  </a:cubicBezTo>
                  <a:lnTo>
                    <a:pt x="2679537" y="111294"/>
                  </a:lnTo>
                  <a:cubicBezTo>
                    <a:pt x="2679537" y="131476"/>
                    <a:pt x="2671520" y="150831"/>
                    <a:pt x="2657249" y="165102"/>
                  </a:cubicBezTo>
                  <a:cubicBezTo>
                    <a:pt x="2642978" y="179373"/>
                    <a:pt x="2623623" y="187390"/>
                    <a:pt x="2603441" y="187390"/>
                  </a:cubicBezTo>
                  <a:lnTo>
                    <a:pt x="76096" y="187390"/>
                  </a:lnTo>
                  <a:cubicBezTo>
                    <a:pt x="55914" y="187390"/>
                    <a:pt x="36559" y="179373"/>
                    <a:pt x="22288" y="165102"/>
                  </a:cubicBezTo>
                  <a:cubicBezTo>
                    <a:pt x="8017" y="150831"/>
                    <a:pt x="0" y="131476"/>
                    <a:pt x="0" y="111294"/>
                  </a:cubicBezTo>
                  <a:lnTo>
                    <a:pt x="0" y="76096"/>
                  </a:lnTo>
                  <a:cubicBezTo>
                    <a:pt x="0" y="55914"/>
                    <a:pt x="8017" y="36559"/>
                    <a:pt x="22288" y="22288"/>
                  </a:cubicBezTo>
                  <a:cubicBezTo>
                    <a:pt x="36559" y="8017"/>
                    <a:pt x="55914" y="0"/>
                    <a:pt x="76096" y="0"/>
                  </a:cubicBezTo>
                  <a:close/>
                </a:path>
              </a:pathLst>
            </a:custGeom>
            <a:solidFill>
              <a:srgbClr val="F8F4D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679537" cy="225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410171" y="5843466"/>
            <a:ext cx="10140044" cy="63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0"/>
              </a:lnSpc>
            </a:pPr>
            <a:r>
              <a:rPr lang="en-US" sz="4720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นายวีรฉัตร จินะปริวัตอาภรณ์</a:t>
            </a:r>
            <a:r>
              <a:rPr lang="en-US" sz="4720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B6703370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4376347" y="6869287"/>
            <a:ext cx="10173868" cy="711496"/>
            <a:chOff x="0" y="0"/>
            <a:chExt cx="2679537" cy="1873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679537" cy="187390"/>
            </a:xfrm>
            <a:custGeom>
              <a:avLst/>
              <a:gdLst/>
              <a:ahLst/>
              <a:cxnLst/>
              <a:rect r="r" b="b" t="t" l="l"/>
              <a:pathLst>
                <a:path h="187390" w="2679537">
                  <a:moveTo>
                    <a:pt x="76096" y="0"/>
                  </a:moveTo>
                  <a:lnTo>
                    <a:pt x="2603441" y="0"/>
                  </a:lnTo>
                  <a:cubicBezTo>
                    <a:pt x="2623623" y="0"/>
                    <a:pt x="2642978" y="8017"/>
                    <a:pt x="2657249" y="22288"/>
                  </a:cubicBezTo>
                  <a:cubicBezTo>
                    <a:pt x="2671520" y="36559"/>
                    <a:pt x="2679537" y="55914"/>
                    <a:pt x="2679537" y="76096"/>
                  </a:cubicBezTo>
                  <a:lnTo>
                    <a:pt x="2679537" y="111294"/>
                  </a:lnTo>
                  <a:cubicBezTo>
                    <a:pt x="2679537" y="131476"/>
                    <a:pt x="2671520" y="150831"/>
                    <a:pt x="2657249" y="165102"/>
                  </a:cubicBezTo>
                  <a:cubicBezTo>
                    <a:pt x="2642978" y="179373"/>
                    <a:pt x="2623623" y="187390"/>
                    <a:pt x="2603441" y="187390"/>
                  </a:cubicBezTo>
                  <a:lnTo>
                    <a:pt x="76096" y="187390"/>
                  </a:lnTo>
                  <a:cubicBezTo>
                    <a:pt x="55914" y="187390"/>
                    <a:pt x="36559" y="179373"/>
                    <a:pt x="22288" y="165102"/>
                  </a:cubicBezTo>
                  <a:cubicBezTo>
                    <a:pt x="8017" y="150831"/>
                    <a:pt x="0" y="131476"/>
                    <a:pt x="0" y="111294"/>
                  </a:cubicBezTo>
                  <a:lnTo>
                    <a:pt x="0" y="76096"/>
                  </a:lnTo>
                  <a:cubicBezTo>
                    <a:pt x="0" y="55914"/>
                    <a:pt x="8017" y="36559"/>
                    <a:pt x="22288" y="22288"/>
                  </a:cubicBezTo>
                  <a:cubicBezTo>
                    <a:pt x="36559" y="8017"/>
                    <a:pt x="55914" y="0"/>
                    <a:pt x="76096" y="0"/>
                  </a:cubicBezTo>
                  <a:close/>
                </a:path>
              </a:pathLst>
            </a:custGeom>
            <a:solidFill>
              <a:srgbClr val="F8F4D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679537" cy="225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4410171" y="6945487"/>
            <a:ext cx="10140044" cy="63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0"/>
              </a:lnSpc>
            </a:pPr>
            <a:r>
              <a:rPr lang="en-US" sz="4720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นายวรรนเรศ ขุมพลกรัง</a:t>
            </a:r>
            <a:r>
              <a:rPr lang="en-US" sz="4720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B6728120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4819806" y="-1693231"/>
            <a:ext cx="5621492" cy="3724238"/>
          </a:xfrm>
          <a:custGeom>
            <a:avLst/>
            <a:gdLst/>
            <a:ahLst/>
            <a:cxnLst/>
            <a:rect r="r" b="b" t="t" l="l"/>
            <a:pathLst>
              <a:path h="3724238" w="5621492">
                <a:moveTo>
                  <a:pt x="0" y="3724238"/>
                </a:moveTo>
                <a:lnTo>
                  <a:pt x="5621492" y="3724238"/>
                </a:lnTo>
                <a:lnTo>
                  <a:pt x="5621492" y="0"/>
                </a:lnTo>
                <a:lnTo>
                  <a:pt x="0" y="0"/>
                </a:lnTo>
                <a:lnTo>
                  <a:pt x="0" y="372423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62723" y="-279145"/>
            <a:ext cx="2756147" cy="2310152"/>
          </a:xfrm>
          <a:custGeom>
            <a:avLst/>
            <a:gdLst/>
            <a:ahLst/>
            <a:cxnLst/>
            <a:rect r="r" b="b" t="t" l="l"/>
            <a:pathLst>
              <a:path h="2310152" w="2756147">
                <a:moveTo>
                  <a:pt x="0" y="0"/>
                </a:moveTo>
                <a:lnTo>
                  <a:pt x="2756147" y="0"/>
                </a:lnTo>
                <a:lnTo>
                  <a:pt x="2756147" y="2310152"/>
                </a:lnTo>
                <a:lnTo>
                  <a:pt x="0" y="23101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11099">
            <a:off x="16367485" y="7652672"/>
            <a:ext cx="4090856" cy="3294999"/>
          </a:xfrm>
          <a:custGeom>
            <a:avLst/>
            <a:gdLst/>
            <a:ahLst/>
            <a:cxnLst/>
            <a:rect r="r" b="b" t="t" l="l"/>
            <a:pathLst>
              <a:path h="3294999" w="4090856">
                <a:moveTo>
                  <a:pt x="0" y="0"/>
                </a:moveTo>
                <a:lnTo>
                  <a:pt x="4090856" y="0"/>
                </a:lnTo>
                <a:lnTo>
                  <a:pt x="4090856" y="3294999"/>
                </a:lnTo>
                <a:lnTo>
                  <a:pt x="0" y="32949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57560" y="8514875"/>
            <a:ext cx="6028333" cy="5041879"/>
          </a:xfrm>
          <a:custGeom>
            <a:avLst/>
            <a:gdLst/>
            <a:ahLst/>
            <a:cxnLst/>
            <a:rect r="r" b="b" t="t" l="l"/>
            <a:pathLst>
              <a:path h="5041879" w="6028333">
                <a:moveTo>
                  <a:pt x="0" y="0"/>
                </a:moveTo>
                <a:lnTo>
                  <a:pt x="6028333" y="0"/>
                </a:lnTo>
                <a:lnTo>
                  <a:pt x="6028333" y="5041879"/>
                </a:lnTo>
                <a:lnTo>
                  <a:pt x="0" y="50418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71880">
            <a:off x="-58885" y="8117792"/>
            <a:ext cx="1335431" cy="2281015"/>
          </a:xfrm>
          <a:custGeom>
            <a:avLst/>
            <a:gdLst/>
            <a:ahLst/>
            <a:cxnLst/>
            <a:rect r="r" b="b" t="t" l="l"/>
            <a:pathLst>
              <a:path h="2281015" w="1335431">
                <a:moveTo>
                  <a:pt x="0" y="0"/>
                </a:moveTo>
                <a:lnTo>
                  <a:pt x="1335431" y="0"/>
                </a:lnTo>
                <a:lnTo>
                  <a:pt x="1335431" y="2281016"/>
                </a:lnTo>
                <a:lnTo>
                  <a:pt x="0" y="22810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5400000">
            <a:off x="13415429" y="9119485"/>
            <a:ext cx="2373658" cy="3071792"/>
          </a:xfrm>
          <a:custGeom>
            <a:avLst/>
            <a:gdLst/>
            <a:ahLst/>
            <a:cxnLst/>
            <a:rect r="r" b="b" t="t" l="l"/>
            <a:pathLst>
              <a:path h="3071792" w="2373658">
                <a:moveTo>
                  <a:pt x="2373658" y="0"/>
                </a:moveTo>
                <a:lnTo>
                  <a:pt x="0" y="0"/>
                </a:lnTo>
                <a:lnTo>
                  <a:pt x="0" y="3071793"/>
                </a:lnTo>
                <a:lnTo>
                  <a:pt x="2373658" y="3071793"/>
                </a:lnTo>
                <a:lnTo>
                  <a:pt x="2373658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5400000">
            <a:off x="2387438" y="-1417379"/>
            <a:ext cx="1999296" cy="2587324"/>
          </a:xfrm>
          <a:custGeom>
            <a:avLst/>
            <a:gdLst/>
            <a:ahLst/>
            <a:cxnLst/>
            <a:rect r="r" b="b" t="t" l="l"/>
            <a:pathLst>
              <a:path h="2587324" w="1999296">
                <a:moveTo>
                  <a:pt x="1999296" y="0"/>
                </a:moveTo>
                <a:lnTo>
                  <a:pt x="0" y="0"/>
                </a:lnTo>
                <a:lnTo>
                  <a:pt x="0" y="2587324"/>
                </a:lnTo>
                <a:lnTo>
                  <a:pt x="1999296" y="2587324"/>
                </a:lnTo>
                <a:lnTo>
                  <a:pt x="1999296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602357" y="10008705"/>
            <a:ext cx="2354655" cy="1960786"/>
          </a:xfrm>
          <a:custGeom>
            <a:avLst/>
            <a:gdLst/>
            <a:ahLst/>
            <a:cxnLst/>
            <a:rect r="r" b="b" t="t" l="l"/>
            <a:pathLst>
              <a:path h="1960786" w="2354655">
                <a:moveTo>
                  <a:pt x="0" y="0"/>
                </a:moveTo>
                <a:lnTo>
                  <a:pt x="2354655" y="0"/>
                </a:lnTo>
                <a:lnTo>
                  <a:pt x="2354655" y="1960786"/>
                </a:lnTo>
                <a:lnTo>
                  <a:pt x="0" y="196078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884437" y="471148"/>
            <a:ext cx="10935369" cy="99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ที่มาและความสำคัญ</a:t>
            </a:r>
            <a:r>
              <a:rPr lang="en-US" sz="8000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15597" y="1901893"/>
            <a:ext cx="12673049" cy="178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   การเดินทางระหว่างมหาวิทยาลัยเทคโนโลยีสุรนารี (SUT) และเขตตัวเมืองนครราชสีมา ถือเป็นเส้นทาง</a:t>
            </a: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สำคัญที่มีนักศึกษาและบุคลากรใช้งานเป็นจำนวนมากในการเดินทางทำธุระหรือท่องเที่ยว และสำหรับนักศึกษาที่ ไม่มียานพาหนะส่วนตัวในการเดินทาง ระบบการจัดการขนส่งในปัจจุบันอาจยังขาดความแน่นอนและ ประสิทธิภาพผู้โดยสารที่ต้องการจองล่วงหน้าเพื่อรับประกันที่นั่งอาจไม่มีระบบการรองรับที่ชัดเจน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07475" y="3870176"/>
            <a:ext cx="12673049" cy="284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   โครงงาน"โปรแกรมการจองขน-ส่งจาก SUT - ไปตัวเมืองนครราชสีมา" จึงถูกพัฒนาขึ้นเพื่อตอบสนองต่อ</a:t>
            </a: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ปัญหาดังกล่าว โดยมีที่มาจากการบูรณาการองค์ความรู้ทางทฤษฎีจากรายวิชา OBJECT-ORIENTED PROGRAMMING AND DATA STRUCTURES ซึ่งเป็นกรณีศึกษาความสำคัญในการนำหลักการ การเขียน โปรแกรมเชิงวัตถุ (OOP) มาประยุกต์ใช้เพื่อจำลององค์ประกอบที่ซับซ้อนของระบบ เช่น การจอง (ซึ่งมีทั้งแบบ จองล่วงหน้าและจองระหว่างทาง), ยานพาหนะ (ที่ต้องจัดการที่นั่งว่าง) และ เส้นทาง (ที่มีจุดจอดคงที่) รวมถึงการ เลือกใช้ โครงสร้างข้อมูล (Data Structures) ที่เหมาะสม เพื่อจัดการคิวผู้โดยสารและบริหารจัดการที่นั่งว่างได้ อย่างรวดเร็วและมีประสิทธิภาพ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07475" y="6895734"/>
            <a:ext cx="12673049" cy="213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ในเชิงประยุกต์ โครงงานนี้มุ่งสร้างเครื่องมือที่ใช้งานได้จริงเพื่อ</a:t>
            </a: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ยกระดับการเดินทางในเส้นทางนี้ โดยการพัฒนาระบบการจองแบบผสม หรือ "Hybrid Booking" ที่ช่วยให้ผู้ใช้สามารถจองที่นั่งล่วงหน้าได้ และยังเพิ่มความ ยืดหยุ่นให้ผู้ที่รอตามจุดจอดสามารถใช้โปรแกรมตรวจสอบและจองที่นั่งว่างที่เหลืออยู่บนรถที่กำลังให้บริการได้ (On-Route Hailing) ซึ่งระบบนี้จะช่วยให้ผู้ขับขี่มีข้อมูลการรับ-ส่งผู้โดยสารที่ชัดเจน และผู้โดยสารได้รับความ สะดวกสบายและมีความแน่นอนในการเดินทางมากขึ้น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4956764" y="-1693231"/>
            <a:ext cx="5484534" cy="3633504"/>
          </a:xfrm>
          <a:custGeom>
            <a:avLst/>
            <a:gdLst/>
            <a:ahLst/>
            <a:cxnLst/>
            <a:rect r="r" b="b" t="t" l="l"/>
            <a:pathLst>
              <a:path h="3633504" w="5484534">
                <a:moveTo>
                  <a:pt x="0" y="3633503"/>
                </a:moveTo>
                <a:lnTo>
                  <a:pt x="5484534" y="3633503"/>
                </a:lnTo>
                <a:lnTo>
                  <a:pt x="5484534" y="0"/>
                </a:lnTo>
                <a:lnTo>
                  <a:pt x="0" y="0"/>
                </a:lnTo>
                <a:lnTo>
                  <a:pt x="0" y="363350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586562" y="476599"/>
            <a:ext cx="1719551" cy="2087755"/>
          </a:xfrm>
          <a:custGeom>
            <a:avLst/>
            <a:gdLst/>
            <a:ahLst/>
            <a:cxnLst/>
            <a:rect r="r" b="b" t="t" l="l"/>
            <a:pathLst>
              <a:path h="2087755" w="1719551">
                <a:moveTo>
                  <a:pt x="0" y="0"/>
                </a:moveTo>
                <a:lnTo>
                  <a:pt x="1719551" y="0"/>
                </a:lnTo>
                <a:lnTo>
                  <a:pt x="1719551" y="2087755"/>
                </a:lnTo>
                <a:lnTo>
                  <a:pt x="0" y="2087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559123" cy="2145011"/>
          </a:xfrm>
          <a:custGeom>
            <a:avLst/>
            <a:gdLst/>
            <a:ahLst/>
            <a:cxnLst/>
            <a:rect r="r" b="b" t="t" l="l"/>
            <a:pathLst>
              <a:path h="2145011" w="2559123">
                <a:moveTo>
                  <a:pt x="0" y="0"/>
                </a:moveTo>
                <a:lnTo>
                  <a:pt x="2559124" y="0"/>
                </a:lnTo>
                <a:lnTo>
                  <a:pt x="2559124" y="2145011"/>
                </a:lnTo>
                <a:lnTo>
                  <a:pt x="0" y="21450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11099">
            <a:off x="16189164" y="7499784"/>
            <a:ext cx="4273873" cy="3442410"/>
          </a:xfrm>
          <a:custGeom>
            <a:avLst/>
            <a:gdLst/>
            <a:ahLst/>
            <a:cxnLst/>
            <a:rect r="r" b="b" t="t" l="l"/>
            <a:pathLst>
              <a:path h="3442410" w="4273873">
                <a:moveTo>
                  <a:pt x="0" y="0"/>
                </a:moveTo>
                <a:lnTo>
                  <a:pt x="4273873" y="0"/>
                </a:lnTo>
                <a:lnTo>
                  <a:pt x="4273873" y="3442410"/>
                </a:lnTo>
                <a:lnTo>
                  <a:pt x="0" y="344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715617" y="8712820"/>
            <a:ext cx="5791660" cy="4843934"/>
          </a:xfrm>
          <a:custGeom>
            <a:avLst/>
            <a:gdLst/>
            <a:ahLst/>
            <a:cxnLst/>
            <a:rect r="r" b="b" t="t" l="l"/>
            <a:pathLst>
              <a:path h="4843934" w="5791660">
                <a:moveTo>
                  <a:pt x="0" y="0"/>
                </a:moveTo>
                <a:lnTo>
                  <a:pt x="5791660" y="0"/>
                </a:lnTo>
                <a:lnTo>
                  <a:pt x="5791660" y="4843934"/>
                </a:lnTo>
                <a:lnTo>
                  <a:pt x="0" y="48439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71880">
            <a:off x="496802" y="8415559"/>
            <a:ext cx="921149" cy="1573392"/>
          </a:xfrm>
          <a:custGeom>
            <a:avLst/>
            <a:gdLst/>
            <a:ahLst/>
            <a:cxnLst/>
            <a:rect r="r" b="b" t="t" l="l"/>
            <a:pathLst>
              <a:path h="1573392" w="921149">
                <a:moveTo>
                  <a:pt x="0" y="0"/>
                </a:moveTo>
                <a:lnTo>
                  <a:pt x="921149" y="0"/>
                </a:lnTo>
                <a:lnTo>
                  <a:pt x="921149" y="1573391"/>
                </a:lnTo>
                <a:lnTo>
                  <a:pt x="0" y="15733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5400000">
            <a:off x="13349453" y="9197736"/>
            <a:ext cx="2387072" cy="3089152"/>
          </a:xfrm>
          <a:custGeom>
            <a:avLst/>
            <a:gdLst/>
            <a:ahLst/>
            <a:cxnLst/>
            <a:rect r="r" b="b" t="t" l="l"/>
            <a:pathLst>
              <a:path h="3089152" w="2387072">
                <a:moveTo>
                  <a:pt x="2387072" y="0"/>
                </a:moveTo>
                <a:lnTo>
                  <a:pt x="0" y="0"/>
                </a:lnTo>
                <a:lnTo>
                  <a:pt x="0" y="3089152"/>
                </a:lnTo>
                <a:lnTo>
                  <a:pt x="2387072" y="3089152"/>
                </a:lnTo>
                <a:lnTo>
                  <a:pt x="2387072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5400000">
            <a:off x="2200174" y="-1336603"/>
            <a:ext cx="2065660" cy="2673207"/>
          </a:xfrm>
          <a:custGeom>
            <a:avLst/>
            <a:gdLst/>
            <a:ahLst/>
            <a:cxnLst/>
            <a:rect r="r" b="b" t="t" l="l"/>
            <a:pathLst>
              <a:path h="2673207" w="2065660">
                <a:moveTo>
                  <a:pt x="2065660" y="0"/>
                </a:moveTo>
                <a:lnTo>
                  <a:pt x="0" y="0"/>
                </a:lnTo>
                <a:lnTo>
                  <a:pt x="0" y="2673206"/>
                </a:lnTo>
                <a:lnTo>
                  <a:pt x="2065660" y="2673206"/>
                </a:lnTo>
                <a:lnTo>
                  <a:pt x="206566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02357" y="9950421"/>
            <a:ext cx="2424647" cy="2019070"/>
          </a:xfrm>
          <a:custGeom>
            <a:avLst/>
            <a:gdLst/>
            <a:ahLst/>
            <a:cxnLst/>
            <a:rect r="r" b="b" t="t" l="l"/>
            <a:pathLst>
              <a:path h="2019070" w="2424647">
                <a:moveTo>
                  <a:pt x="0" y="0"/>
                </a:moveTo>
                <a:lnTo>
                  <a:pt x="2424647" y="0"/>
                </a:lnTo>
                <a:lnTo>
                  <a:pt x="2424647" y="2019070"/>
                </a:lnTo>
                <a:lnTo>
                  <a:pt x="0" y="20190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916805" y="-1111111"/>
            <a:ext cx="2438194" cy="2030351"/>
          </a:xfrm>
          <a:custGeom>
            <a:avLst/>
            <a:gdLst/>
            <a:ahLst/>
            <a:cxnLst/>
            <a:rect r="r" b="b" t="t" l="l"/>
            <a:pathLst>
              <a:path h="2030351" w="2438194">
                <a:moveTo>
                  <a:pt x="0" y="0"/>
                </a:moveTo>
                <a:lnTo>
                  <a:pt x="2438194" y="0"/>
                </a:lnTo>
                <a:lnTo>
                  <a:pt x="2438194" y="2030351"/>
                </a:lnTo>
                <a:lnTo>
                  <a:pt x="0" y="20303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884437" y="471148"/>
            <a:ext cx="10935369" cy="99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 </a:t>
            </a:r>
            <a:r>
              <a:rPr lang="en-US" sz="8000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วัตถุปร</a:t>
            </a:r>
            <a:r>
              <a:rPr lang="en-US" sz="8000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ะสงค์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41368" y="1951162"/>
            <a:ext cx="13346197" cy="636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2799"/>
              </a:lnSpc>
              <a:buAutoNum type="arabicPeriod" startAt="1"/>
            </a:pP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เพื่อพัฒนาระบบจองที่นั่งแบบเรียลไทม์: ช่วยให้ผู้โดยสารสามารถเลือกเที่ยวรถและตำแหน่งที่นั่ง (A1-D3) ได้ด้วยตนเองผ่านระบบดิจิทัล </a:t>
            </a:r>
          </a:p>
          <a:p>
            <a:pPr algn="just">
              <a:lnSpc>
                <a:spcPts val="2799"/>
              </a:lnSpc>
            </a:pPr>
          </a:p>
          <a:p>
            <a:pPr algn="just" marL="604519" indent="-302260" lvl="1">
              <a:lnSpc>
                <a:spcPts val="2799"/>
              </a:lnSpc>
              <a:buAutoNum type="arabicPeriod" startAt="1"/>
            </a:pP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เพื่อเพิ่มประสิทธิภาพใ</a:t>
            </a: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นการจัดการตารางเดินรถ: ใช้ Schedule และ Route เป็นตัวกลางในการกำหนดเวลาและเส้นทางเดินรถที่ชัดเจนจาก "เทคโนธานี" ไปยังจุดต่าง ๆ เช่น "The Mall" หรือ "Terminal 21" </a:t>
            </a:r>
          </a:p>
          <a:p>
            <a:pPr algn="just">
              <a:lnSpc>
                <a:spcPts val="2799"/>
              </a:lnSpc>
            </a:pPr>
          </a:p>
          <a:p>
            <a:pPr algn="just" marL="604519" indent="-302260" lvl="1">
              <a:lnSpc>
                <a:spcPts val="2799"/>
              </a:lnSpc>
              <a:buAutoNum type="arabicPeriod" startAt="1"/>
            </a:pP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เพื่ออำนวยความสะดวกในการตรวจสอบสถานะรถช่วยให้ทั้งผู้โดยสารและคนขับทราบตำแหน่งปัจจุบันของรถผ่านระบบBusStatusและStationStatusManagerที่อัปเดตสถานะการเข้า-ออกแต่ละสถานี</a:t>
            </a:r>
          </a:p>
          <a:p>
            <a:pPr algn="just">
              <a:lnSpc>
                <a:spcPts val="2799"/>
              </a:lnSpc>
            </a:pPr>
          </a:p>
          <a:p>
            <a:pPr algn="just" marL="604519" indent="-302260" lvl="1">
              <a:lnSpc>
                <a:spcPts val="2799"/>
              </a:lnSpc>
              <a:buAutoNum type="arabicPeriod" startAt="1"/>
            </a:pP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เพื่อจัดเก็บและบริหารจัดการข้อมูลสมาชิกอย่างเป็นระบบมีการแยกประเภทผู้ใช้งานระหว่างPassenger (นักศึกษา/บุคลากร)และDriver(คนขับรถ)โดยใช้SystemManagerในการบันทึกข้อมูลลงฐานข้อมูลไฟล์.datเพื่อความคงทนของข้อมูล</a:t>
            </a:r>
          </a:p>
          <a:p>
            <a:pPr algn="just">
              <a:lnSpc>
                <a:spcPts val="2799"/>
              </a:lnSpc>
            </a:pPr>
          </a:p>
          <a:p>
            <a:pPr algn="just" marL="604519" indent="-302260" lvl="1">
              <a:lnSpc>
                <a:spcPts val="2799"/>
              </a:lnSpc>
              <a:buAutoNum type="arabicPeriod" startAt="1"/>
            </a:pP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เพื่อสร้างเครื่องมือวิเคราะห์ข้อมูลสำหรับผู้ให้บริการระบบมีส่วนของDriverStatsPanelเพื่อรวบรวมสถิติการใช้งานและจำนวนผู้โดยสารในแต่ละรอบการเดินรถ</a:t>
            </a:r>
          </a:p>
          <a:p>
            <a:pPr algn="just">
              <a:lnSpc>
                <a:spcPts val="27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4956764" y="-1693231"/>
            <a:ext cx="5484534" cy="3633504"/>
          </a:xfrm>
          <a:custGeom>
            <a:avLst/>
            <a:gdLst/>
            <a:ahLst/>
            <a:cxnLst/>
            <a:rect r="r" b="b" t="t" l="l"/>
            <a:pathLst>
              <a:path h="3633504" w="5484534">
                <a:moveTo>
                  <a:pt x="0" y="3633503"/>
                </a:moveTo>
                <a:lnTo>
                  <a:pt x="5484534" y="3633503"/>
                </a:lnTo>
                <a:lnTo>
                  <a:pt x="5484534" y="0"/>
                </a:lnTo>
                <a:lnTo>
                  <a:pt x="0" y="0"/>
                </a:lnTo>
                <a:lnTo>
                  <a:pt x="0" y="363350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586562" y="476599"/>
            <a:ext cx="1719551" cy="2087755"/>
          </a:xfrm>
          <a:custGeom>
            <a:avLst/>
            <a:gdLst/>
            <a:ahLst/>
            <a:cxnLst/>
            <a:rect r="r" b="b" t="t" l="l"/>
            <a:pathLst>
              <a:path h="2087755" w="1719551">
                <a:moveTo>
                  <a:pt x="0" y="0"/>
                </a:moveTo>
                <a:lnTo>
                  <a:pt x="1719551" y="0"/>
                </a:lnTo>
                <a:lnTo>
                  <a:pt x="1719551" y="2087755"/>
                </a:lnTo>
                <a:lnTo>
                  <a:pt x="0" y="2087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559123" cy="2145011"/>
          </a:xfrm>
          <a:custGeom>
            <a:avLst/>
            <a:gdLst/>
            <a:ahLst/>
            <a:cxnLst/>
            <a:rect r="r" b="b" t="t" l="l"/>
            <a:pathLst>
              <a:path h="2145011" w="2559123">
                <a:moveTo>
                  <a:pt x="0" y="0"/>
                </a:moveTo>
                <a:lnTo>
                  <a:pt x="2559124" y="0"/>
                </a:lnTo>
                <a:lnTo>
                  <a:pt x="2559124" y="2145011"/>
                </a:lnTo>
                <a:lnTo>
                  <a:pt x="0" y="21450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11099">
            <a:off x="16189164" y="7499784"/>
            <a:ext cx="4273873" cy="3442410"/>
          </a:xfrm>
          <a:custGeom>
            <a:avLst/>
            <a:gdLst/>
            <a:ahLst/>
            <a:cxnLst/>
            <a:rect r="r" b="b" t="t" l="l"/>
            <a:pathLst>
              <a:path h="3442410" w="4273873">
                <a:moveTo>
                  <a:pt x="0" y="0"/>
                </a:moveTo>
                <a:lnTo>
                  <a:pt x="4273873" y="0"/>
                </a:lnTo>
                <a:lnTo>
                  <a:pt x="4273873" y="3442410"/>
                </a:lnTo>
                <a:lnTo>
                  <a:pt x="0" y="344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715617" y="8712820"/>
            <a:ext cx="5791660" cy="4843934"/>
          </a:xfrm>
          <a:custGeom>
            <a:avLst/>
            <a:gdLst/>
            <a:ahLst/>
            <a:cxnLst/>
            <a:rect r="r" b="b" t="t" l="l"/>
            <a:pathLst>
              <a:path h="4843934" w="5791660">
                <a:moveTo>
                  <a:pt x="0" y="0"/>
                </a:moveTo>
                <a:lnTo>
                  <a:pt x="5791660" y="0"/>
                </a:lnTo>
                <a:lnTo>
                  <a:pt x="5791660" y="4843934"/>
                </a:lnTo>
                <a:lnTo>
                  <a:pt x="0" y="48439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71880">
            <a:off x="496802" y="8415559"/>
            <a:ext cx="921149" cy="1573392"/>
          </a:xfrm>
          <a:custGeom>
            <a:avLst/>
            <a:gdLst/>
            <a:ahLst/>
            <a:cxnLst/>
            <a:rect r="r" b="b" t="t" l="l"/>
            <a:pathLst>
              <a:path h="1573392" w="921149">
                <a:moveTo>
                  <a:pt x="0" y="0"/>
                </a:moveTo>
                <a:lnTo>
                  <a:pt x="921149" y="0"/>
                </a:lnTo>
                <a:lnTo>
                  <a:pt x="921149" y="1573391"/>
                </a:lnTo>
                <a:lnTo>
                  <a:pt x="0" y="15733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5400000">
            <a:off x="13349453" y="9197736"/>
            <a:ext cx="2387072" cy="3089152"/>
          </a:xfrm>
          <a:custGeom>
            <a:avLst/>
            <a:gdLst/>
            <a:ahLst/>
            <a:cxnLst/>
            <a:rect r="r" b="b" t="t" l="l"/>
            <a:pathLst>
              <a:path h="3089152" w="2387072">
                <a:moveTo>
                  <a:pt x="2387072" y="0"/>
                </a:moveTo>
                <a:lnTo>
                  <a:pt x="0" y="0"/>
                </a:lnTo>
                <a:lnTo>
                  <a:pt x="0" y="3089152"/>
                </a:lnTo>
                <a:lnTo>
                  <a:pt x="2387072" y="3089152"/>
                </a:lnTo>
                <a:lnTo>
                  <a:pt x="2387072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5400000">
            <a:off x="2200174" y="-1336603"/>
            <a:ext cx="2065660" cy="2673207"/>
          </a:xfrm>
          <a:custGeom>
            <a:avLst/>
            <a:gdLst/>
            <a:ahLst/>
            <a:cxnLst/>
            <a:rect r="r" b="b" t="t" l="l"/>
            <a:pathLst>
              <a:path h="2673207" w="2065660">
                <a:moveTo>
                  <a:pt x="2065660" y="0"/>
                </a:moveTo>
                <a:lnTo>
                  <a:pt x="0" y="0"/>
                </a:lnTo>
                <a:lnTo>
                  <a:pt x="0" y="2673206"/>
                </a:lnTo>
                <a:lnTo>
                  <a:pt x="2065660" y="2673206"/>
                </a:lnTo>
                <a:lnTo>
                  <a:pt x="206566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02357" y="9950421"/>
            <a:ext cx="2424647" cy="2019070"/>
          </a:xfrm>
          <a:custGeom>
            <a:avLst/>
            <a:gdLst/>
            <a:ahLst/>
            <a:cxnLst/>
            <a:rect r="r" b="b" t="t" l="l"/>
            <a:pathLst>
              <a:path h="2019070" w="2424647">
                <a:moveTo>
                  <a:pt x="0" y="0"/>
                </a:moveTo>
                <a:lnTo>
                  <a:pt x="2424647" y="0"/>
                </a:lnTo>
                <a:lnTo>
                  <a:pt x="2424647" y="2019070"/>
                </a:lnTo>
                <a:lnTo>
                  <a:pt x="0" y="20190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916805" y="-1111111"/>
            <a:ext cx="2438194" cy="2030351"/>
          </a:xfrm>
          <a:custGeom>
            <a:avLst/>
            <a:gdLst/>
            <a:ahLst/>
            <a:cxnLst/>
            <a:rect r="r" b="b" t="t" l="l"/>
            <a:pathLst>
              <a:path h="2030351" w="2438194">
                <a:moveTo>
                  <a:pt x="0" y="0"/>
                </a:moveTo>
                <a:lnTo>
                  <a:pt x="2438194" y="0"/>
                </a:lnTo>
                <a:lnTo>
                  <a:pt x="2438194" y="2030351"/>
                </a:lnTo>
                <a:lnTo>
                  <a:pt x="0" y="20303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946782" y="1475975"/>
            <a:ext cx="10935369" cy="99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ขอบเข</a:t>
            </a:r>
            <a:r>
              <a:rPr lang="en-US" sz="8000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ตโคร</a:t>
            </a:r>
            <a:r>
              <a:rPr lang="en-US" sz="8000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งงาน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38353" y="2864803"/>
            <a:ext cx="13216647" cy="460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2799"/>
              </a:lnSpc>
              <a:buAutoNum type="arabicPeriod" startAt="1"/>
            </a:pP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ระบบให้บริการจองการเดินทางในเส้นทางระหว่าง มหาวิทย</a:t>
            </a: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าลัยเทคโนโลยีสุรนารี (SUT)  </a:t>
            </a:r>
          </a:p>
          <a:p>
            <a:pPr algn="just">
              <a:lnSpc>
                <a:spcPts val="2799"/>
              </a:lnSpc>
            </a:pP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    </a:t>
            </a: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และจุดจอดที่ กำหนดในเขตตัวเมืองนครราชสีมา (เช่น เทคโนธานี, เดอะมอลล์, เทอมินอล21,</a:t>
            </a:r>
          </a:p>
          <a:p>
            <a:pPr algn="just">
              <a:lnSpc>
                <a:spcPts val="2799"/>
              </a:lnSpc>
            </a:pP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    บขส.ใหม่, เซ็นทรัล ลานท้าวสุรนารี) โดยรองรับทั้งขาไปและขากลับ</a:t>
            </a:r>
          </a:p>
          <a:p>
            <a:pPr algn="just">
              <a:lnSpc>
                <a:spcPts val="2799"/>
              </a:lnSpc>
            </a:pPr>
          </a:p>
          <a:p>
            <a:pPr algn="just" marL="604519" indent="-302260" lvl="1">
              <a:lnSpc>
                <a:spcPts val="2799"/>
              </a:lnSpc>
              <a:buAutoNum type="arabicPeriod" startAt="1"/>
            </a:pP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ระบบใช้โมเดล "การจองล่วงหน้า (Pre-Booking)" เท่านั้น - การจองล่วงหน้า </a:t>
            </a:r>
          </a:p>
          <a:p>
            <a:pPr algn="l">
              <a:lnSpc>
                <a:spcPts val="2799"/>
              </a:lnSpc>
            </a:pP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   </a:t>
            </a: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(Pre-Booking): ผู้ใช้จองรอบเวลาและที่นั่งล่วงหน้าผ่านโปรแกรม</a:t>
            </a:r>
          </a:p>
          <a:p>
            <a:pPr algn="just">
              <a:lnSpc>
                <a:spcPts val="2799"/>
              </a:lnSpc>
            </a:pPr>
          </a:p>
          <a:p>
            <a:pPr algn="just" marL="604519" indent="-302260" lvl="1">
              <a:lnSpc>
                <a:spcPts val="2799"/>
              </a:lnSpc>
              <a:buAutoNum type="arabicPeriod" startAt="1"/>
            </a:pP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ผู้ใช้บริการต้องทำการจอง รอบเวลาและที่นั่ง ล่วงหน้าผ่านโปรแกรมเท่านั้น โดยสามารถตรวจสอบ จำนวนที่นั่งว่างที่เหลืออยู่ในแต่ละรอบเวลาได้</a:t>
            </a:r>
          </a:p>
          <a:p>
            <a:pPr algn="just">
              <a:lnSpc>
                <a:spcPts val="2799"/>
              </a:lnSpc>
            </a:pPr>
          </a:p>
          <a:p>
            <a:pPr algn="just" marL="604519" indent="-302260" lvl="1">
              <a:lnSpc>
                <a:spcPts val="2799"/>
              </a:lnSpc>
              <a:buAutoNum type="arabicPeriod" startAt="1"/>
            </a:pP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ระบบไม่อนุญาต ให้มีการโบกรถจากข้างทาง (Street-hailing) หรือการจองระหว่างทาง </a:t>
            </a:r>
          </a:p>
          <a:p>
            <a:pPr algn="just">
              <a:lnSpc>
                <a:spcPts val="2799"/>
              </a:lnSpc>
            </a:pP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   </a:t>
            </a: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(On-Route Hailing) </a:t>
            </a:r>
          </a:p>
          <a:p>
            <a:pPr algn="just">
              <a:lnSpc>
                <a:spcPts val="27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4956764" y="-1693231"/>
            <a:ext cx="5484534" cy="3633504"/>
          </a:xfrm>
          <a:custGeom>
            <a:avLst/>
            <a:gdLst/>
            <a:ahLst/>
            <a:cxnLst/>
            <a:rect r="r" b="b" t="t" l="l"/>
            <a:pathLst>
              <a:path h="3633504" w="5484534">
                <a:moveTo>
                  <a:pt x="0" y="3633503"/>
                </a:moveTo>
                <a:lnTo>
                  <a:pt x="5484534" y="3633503"/>
                </a:lnTo>
                <a:lnTo>
                  <a:pt x="5484534" y="0"/>
                </a:lnTo>
                <a:lnTo>
                  <a:pt x="0" y="0"/>
                </a:lnTo>
                <a:lnTo>
                  <a:pt x="0" y="363350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586562" y="476599"/>
            <a:ext cx="1719551" cy="2087755"/>
          </a:xfrm>
          <a:custGeom>
            <a:avLst/>
            <a:gdLst/>
            <a:ahLst/>
            <a:cxnLst/>
            <a:rect r="r" b="b" t="t" l="l"/>
            <a:pathLst>
              <a:path h="2087755" w="1719551">
                <a:moveTo>
                  <a:pt x="0" y="0"/>
                </a:moveTo>
                <a:lnTo>
                  <a:pt x="1719551" y="0"/>
                </a:lnTo>
                <a:lnTo>
                  <a:pt x="1719551" y="2087755"/>
                </a:lnTo>
                <a:lnTo>
                  <a:pt x="0" y="2087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559123" cy="2145011"/>
          </a:xfrm>
          <a:custGeom>
            <a:avLst/>
            <a:gdLst/>
            <a:ahLst/>
            <a:cxnLst/>
            <a:rect r="r" b="b" t="t" l="l"/>
            <a:pathLst>
              <a:path h="2145011" w="2559123">
                <a:moveTo>
                  <a:pt x="0" y="0"/>
                </a:moveTo>
                <a:lnTo>
                  <a:pt x="2559124" y="0"/>
                </a:lnTo>
                <a:lnTo>
                  <a:pt x="2559124" y="2145011"/>
                </a:lnTo>
                <a:lnTo>
                  <a:pt x="0" y="21450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11099">
            <a:off x="16189164" y="7499784"/>
            <a:ext cx="4273873" cy="3442410"/>
          </a:xfrm>
          <a:custGeom>
            <a:avLst/>
            <a:gdLst/>
            <a:ahLst/>
            <a:cxnLst/>
            <a:rect r="r" b="b" t="t" l="l"/>
            <a:pathLst>
              <a:path h="3442410" w="4273873">
                <a:moveTo>
                  <a:pt x="0" y="0"/>
                </a:moveTo>
                <a:lnTo>
                  <a:pt x="4273873" y="0"/>
                </a:lnTo>
                <a:lnTo>
                  <a:pt x="4273873" y="3442410"/>
                </a:lnTo>
                <a:lnTo>
                  <a:pt x="0" y="344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715617" y="8712820"/>
            <a:ext cx="5791660" cy="4843934"/>
          </a:xfrm>
          <a:custGeom>
            <a:avLst/>
            <a:gdLst/>
            <a:ahLst/>
            <a:cxnLst/>
            <a:rect r="r" b="b" t="t" l="l"/>
            <a:pathLst>
              <a:path h="4843934" w="5791660">
                <a:moveTo>
                  <a:pt x="0" y="0"/>
                </a:moveTo>
                <a:lnTo>
                  <a:pt x="5791660" y="0"/>
                </a:lnTo>
                <a:lnTo>
                  <a:pt x="5791660" y="4843934"/>
                </a:lnTo>
                <a:lnTo>
                  <a:pt x="0" y="48439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71880">
            <a:off x="496802" y="8415559"/>
            <a:ext cx="921149" cy="1573392"/>
          </a:xfrm>
          <a:custGeom>
            <a:avLst/>
            <a:gdLst/>
            <a:ahLst/>
            <a:cxnLst/>
            <a:rect r="r" b="b" t="t" l="l"/>
            <a:pathLst>
              <a:path h="1573392" w="921149">
                <a:moveTo>
                  <a:pt x="0" y="0"/>
                </a:moveTo>
                <a:lnTo>
                  <a:pt x="921149" y="0"/>
                </a:lnTo>
                <a:lnTo>
                  <a:pt x="921149" y="1573391"/>
                </a:lnTo>
                <a:lnTo>
                  <a:pt x="0" y="15733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5400000">
            <a:off x="13349453" y="9197736"/>
            <a:ext cx="2387072" cy="3089152"/>
          </a:xfrm>
          <a:custGeom>
            <a:avLst/>
            <a:gdLst/>
            <a:ahLst/>
            <a:cxnLst/>
            <a:rect r="r" b="b" t="t" l="l"/>
            <a:pathLst>
              <a:path h="3089152" w="2387072">
                <a:moveTo>
                  <a:pt x="2387072" y="0"/>
                </a:moveTo>
                <a:lnTo>
                  <a:pt x="0" y="0"/>
                </a:lnTo>
                <a:lnTo>
                  <a:pt x="0" y="3089152"/>
                </a:lnTo>
                <a:lnTo>
                  <a:pt x="2387072" y="3089152"/>
                </a:lnTo>
                <a:lnTo>
                  <a:pt x="2387072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5400000">
            <a:off x="2200174" y="-1336603"/>
            <a:ext cx="2065660" cy="2673207"/>
          </a:xfrm>
          <a:custGeom>
            <a:avLst/>
            <a:gdLst/>
            <a:ahLst/>
            <a:cxnLst/>
            <a:rect r="r" b="b" t="t" l="l"/>
            <a:pathLst>
              <a:path h="2673207" w="2065660">
                <a:moveTo>
                  <a:pt x="2065660" y="0"/>
                </a:moveTo>
                <a:lnTo>
                  <a:pt x="0" y="0"/>
                </a:lnTo>
                <a:lnTo>
                  <a:pt x="0" y="2673206"/>
                </a:lnTo>
                <a:lnTo>
                  <a:pt x="2065660" y="2673206"/>
                </a:lnTo>
                <a:lnTo>
                  <a:pt x="206566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02357" y="9950421"/>
            <a:ext cx="2424647" cy="2019070"/>
          </a:xfrm>
          <a:custGeom>
            <a:avLst/>
            <a:gdLst/>
            <a:ahLst/>
            <a:cxnLst/>
            <a:rect r="r" b="b" t="t" l="l"/>
            <a:pathLst>
              <a:path h="2019070" w="2424647">
                <a:moveTo>
                  <a:pt x="0" y="0"/>
                </a:moveTo>
                <a:lnTo>
                  <a:pt x="2424647" y="0"/>
                </a:lnTo>
                <a:lnTo>
                  <a:pt x="2424647" y="2019070"/>
                </a:lnTo>
                <a:lnTo>
                  <a:pt x="0" y="20190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916805" y="-1111111"/>
            <a:ext cx="2438194" cy="2030351"/>
          </a:xfrm>
          <a:custGeom>
            <a:avLst/>
            <a:gdLst/>
            <a:ahLst/>
            <a:cxnLst/>
            <a:rect r="r" b="b" t="t" l="l"/>
            <a:pathLst>
              <a:path h="2030351" w="2438194">
                <a:moveTo>
                  <a:pt x="0" y="0"/>
                </a:moveTo>
                <a:lnTo>
                  <a:pt x="2438194" y="0"/>
                </a:lnTo>
                <a:lnTo>
                  <a:pt x="2438194" y="2030351"/>
                </a:lnTo>
                <a:lnTo>
                  <a:pt x="0" y="20303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607621" y="2014437"/>
            <a:ext cx="10935369" cy="1932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ความคิดสร้า</a:t>
            </a:r>
            <a:r>
              <a:rPr lang="en-US" sz="8000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งสรรค์ในการออกแบบ (CREATIVITY)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84918" y="4756901"/>
            <a:ext cx="12552228" cy="213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ระบบ SUT-TRANSPORT มีความคิดสร้างสรรค์ในการออกแบบโดยนำ สีประจำมหาวิทย</a:t>
            </a: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าลัยเทคโนโลยีสุรนารี มาใช้เป็นแนวคิดหลักในการออกแบบส่วนติดต่อผู้ใช้ เพื่อสร้างเอกลักษณ์และความเชื่อมโยงกับมหาวิทยาลัย นอกจากนี้ยังมีการออกแบบหน้าจอการใช้งานให้เรียบง่าย เข้าใจง่าย และแยกบทบาทการใช้งานระหว่างผู้ใช้และคนขับอย่างชัดเจน รวมถึงการใช้สีและสัญลักษณ์เพื่อแสดงสถานะต่าง ๆ ของระบบ ช่วยให้ผู้ใช้งานสามารถเรียนรู้และใช้งานระบบได้สะดวก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4956764" y="-1693231"/>
            <a:ext cx="5484534" cy="3633504"/>
          </a:xfrm>
          <a:custGeom>
            <a:avLst/>
            <a:gdLst/>
            <a:ahLst/>
            <a:cxnLst/>
            <a:rect r="r" b="b" t="t" l="l"/>
            <a:pathLst>
              <a:path h="3633504" w="5484534">
                <a:moveTo>
                  <a:pt x="0" y="3633503"/>
                </a:moveTo>
                <a:lnTo>
                  <a:pt x="5484534" y="3633503"/>
                </a:lnTo>
                <a:lnTo>
                  <a:pt x="5484534" y="0"/>
                </a:lnTo>
                <a:lnTo>
                  <a:pt x="0" y="0"/>
                </a:lnTo>
                <a:lnTo>
                  <a:pt x="0" y="363350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586562" y="476599"/>
            <a:ext cx="1719551" cy="2087755"/>
          </a:xfrm>
          <a:custGeom>
            <a:avLst/>
            <a:gdLst/>
            <a:ahLst/>
            <a:cxnLst/>
            <a:rect r="r" b="b" t="t" l="l"/>
            <a:pathLst>
              <a:path h="2087755" w="1719551">
                <a:moveTo>
                  <a:pt x="0" y="0"/>
                </a:moveTo>
                <a:lnTo>
                  <a:pt x="1719551" y="0"/>
                </a:lnTo>
                <a:lnTo>
                  <a:pt x="1719551" y="2087755"/>
                </a:lnTo>
                <a:lnTo>
                  <a:pt x="0" y="2087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559123" cy="2145011"/>
          </a:xfrm>
          <a:custGeom>
            <a:avLst/>
            <a:gdLst/>
            <a:ahLst/>
            <a:cxnLst/>
            <a:rect r="r" b="b" t="t" l="l"/>
            <a:pathLst>
              <a:path h="2145011" w="2559123">
                <a:moveTo>
                  <a:pt x="0" y="0"/>
                </a:moveTo>
                <a:lnTo>
                  <a:pt x="2559124" y="0"/>
                </a:lnTo>
                <a:lnTo>
                  <a:pt x="2559124" y="2145011"/>
                </a:lnTo>
                <a:lnTo>
                  <a:pt x="0" y="21450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11099">
            <a:off x="16189164" y="7499784"/>
            <a:ext cx="4273873" cy="3442410"/>
          </a:xfrm>
          <a:custGeom>
            <a:avLst/>
            <a:gdLst/>
            <a:ahLst/>
            <a:cxnLst/>
            <a:rect r="r" b="b" t="t" l="l"/>
            <a:pathLst>
              <a:path h="3442410" w="4273873">
                <a:moveTo>
                  <a:pt x="0" y="0"/>
                </a:moveTo>
                <a:lnTo>
                  <a:pt x="4273873" y="0"/>
                </a:lnTo>
                <a:lnTo>
                  <a:pt x="4273873" y="3442410"/>
                </a:lnTo>
                <a:lnTo>
                  <a:pt x="0" y="344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715617" y="8712820"/>
            <a:ext cx="5791660" cy="4843934"/>
          </a:xfrm>
          <a:custGeom>
            <a:avLst/>
            <a:gdLst/>
            <a:ahLst/>
            <a:cxnLst/>
            <a:rect r="r" b="b" t="t" l="l"/>
            <a:pathLst>
              <a:path h="4843934" w="5791660">
                <a:moveTo>
                  <a:pt x="0" y="0"/>
                </a:moveTo>
                <a:lnTo>
                  <a:pt x="5791660" y="0"/>
                </a:lnTo>
                <a:lnTo>
                  <a:pt x="5791660" y="4843934"/>
                </a:lnTo>
                <a:lnTo>
                  <a:pt x="0" y="48439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71880">
            <a:off x="496802" y="8415559"/>
            <a:ext cx="921149" cy="1573392"/>
          </a:xfrm>
          <a:custGeom>
            <a:avLst/>
            <a:gdLst/>
            <a:ahLst/>
            <a:cxnLst/>
            <a:rect r="r" b="b" t="t" l="l"/>
            <a:pathLst>
              <a:path h="1573392" w="921149">
                <a:moveTo>
                  <a:pt x="0" y="0"/>
                </a:moveTo>
                <a:lnTo>
                  <a:pt x="921149" y="0"/>
                </a:lnTo>
                <a:lnTo>
                  <a:pt x="921149" y="1573391"/>
                </a:lnTo>
                <a:lnTo>
                  <a:pt x="0" y="15733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5400000">
            <a:off x="13349453" y="9197736"/>
            <a:ext cx="2387072" cy="3089152"/>
          </a:xfrm>
          <a:custGeom>
            <a:avLst/>
            <a:gdLst/>
            <a:ahLst/>
            <a:cxnLst/>
            <a:rect r="r" b="b" t="t" l="l"/>
            <a:pathLst>
              <a:path h="3089152" w="2387072">
                <a:moveTo>
                  <a:pt x="2387072" y="0"/>
                </a:moveTo>
                <a:lnTo>
                  <a:pt x="0" y="0"/>
                </a:lnTo>
                <a:lnTo>
                  <a:pt x="0" y="3089152"/>
                </a:lnTo>
                <a:lnTo>
                  <a:pt x="2387072" y="3089152"/>
                </a:lnTo>
                <a:lnTo>
                  <a:pt x="2387072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5400000">
            <a:off x="2200174" y="-1336603"/>
            <a:ext cx="2065660" cy="2673207"/>
          </a:xfrm>
          <a:custGeom>
            <a:avLst/>
            <a:gdLst/>
            <a:ahLst/>
            <a:cxnLst/>
            <a:rect r="r" b="b" t="t" l="l"/>
            <a:pathLst>
              <a:path h="2673207" w="2065660">
                <a:moveTo>
                  <a:pt x="2065660" y="0"/>
                </a:moveTo>
                <a:lnTo>
                  <a:pt x="0" y="0"/>
                </a:lnTo>
                <a:lnTo>
                  <a:pt x="0" y="2673206"/>
                </a:lnTo>
                <a:lnTo>
                  <a:pt x="2065660" y="2673206"/>
                </a:lnTo>
                <a:lnTo>
                  <a:pt x="206566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02357" y="9950421"/>
            <a:ext cx="2424647" cy="2019070"/>
          </a:xfrm>
          <a:custGeom>
            <a:avLst/>
            <a:gdLst/>
            <a:ahLst/>
            <a:cxnLst/>
            <a:rect r="r" b="b" t="t" l="l"/>
            <a:pathLst>
              <a:path h="2019070" w="2424647">
                <a:moveTo>
                  <a:pt x="0" y="0"/>
                </a:moveTo>
                <a:lnTo>
                  <a:pt x="2424647" y="0"/>
                </a:lnTo>
                <a:lnTo>
                  <a:pt x="2424647" y="2019070"/>
                </a:lnTo>
                <a:lnTo>
                  <a:pt x="0" y="20190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916805" y="-1111111"/>
            <a:ext cx="2438194" cy="2030351"/>
          </a:xfrm>
          <a:custGeom>
            <a:avLst/>
            <a:gdLst/>
            <a:ahLst/>
            <a:cxnLst/>
            <a:rect r="r" b="b" t="t" l="l"/>
            <a:pathLst>
              <a:path h="2030351" w="2438194">
                <a:moveTo>
                  <a:pt x="0" y="0"/>
                </a:moveTo>
                <a:lnTo>
                  <a:pt x="2438194" y="0"/>
                </a:lnTo>
                <a:lnTo>
                  <a:pt x="2438194" y="2030351"/>
                </a:lnTo>
                <a:lnTo>
                  <a:pt x="0" y="20303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87637" y="2776510"/>
            <a:ext cx="12312726" cy="99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ผล</a:t>
            </a:r>
            <a:r>
              <a:rPr lang="en-US" sz="8000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กระทบต่อชุมชน (IMPACT)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33004" y="4875527"/>
            <a:ext cx="12552228" cy="178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SUT-TRANSPORT ช่วยอำนวยความสะดวกในการเดินทางระหว่างมหาวิทยาลัยและตัวเมืองนครราชสีมา ส่งผลให้การเดินทางมีความเป็นระเบียบมากขึ้น ลดความแออัดและความสับสนในการใช้บริการรถรับ-ส่ง ช่วย ประหยัดเวลาและลดภาระค่าใช้จ่ายของนักศึกษาและบุคลากร อีกทั้งยังส่งเสริมการใช้ระบบขนส่งร่วมกัน ซึ่งช่วย ลดปริมาณการใช้รถส่วนตัวและเป็นผลดีต่อชุมชนโดยรอบ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4956764" y="-1693231"/>
            <a:ext cx="5484534" cy="3633504"/>
          </a:xfrm>
          <a:custGeom>
            <a:avLst/>
            <a:gdLst/>
            <a:ahLst/>
            <a:cxnLst/>
            <a:rect r="r" b="b" t="t" l="l"/>
            <a:pathLst>
              <a:path h="3633504" w="5484534">
                <a:moveTo>
                  <a:pt x="0" y="3633503"/>
                </a:moveTo>
                <a:lnTo>
                  <a:pt x="5484534" y="3633503"/>
                </a:lnTo>
                <a:lnTo>
                  <a:pt x="5484534" y="0"/>
                </a:lnTo>
                <a:lnTo>
                  <a:pt x="0" y="0"/>
                </a:lnTo>
                <a:lnTo>
                  <a:pt x="0" y="363350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586562" y="476599"/>
            <a:ext cx="1719551" cy="2087755"/>
          </a:xfrm>
          <a:custGeom>
            <a:avLst/>
            <a:gdLst/>
            <a:ahLst/>
            <a:cxnLst/>
            <a:rect r="r" b="b" t="t" l="l"/>
            <a:pathLst>
              <a:path h="2087755" w="1719551">
                <a:moveTo>
                  <a:pt x="0" y="0"/>
                </a:moveTo>
                <a:lnTo>
                  <a:pt x="1719551" y="0"/>
                </a:lnTo>
                <a:lnTo>
                  <a:pt x="1719551" y="2087755"/>
                </a:lnTo>
                <a:lnTo>
                  <a:pt x="0" y="2087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559123" cy="2145011"/>
          </a:xfrm>
          <a:custGeom>
            <a:avLst/>
            <a:gdLst/>
            <a:ahLst/>
            <a:cxnLst/>
            <a:rect r="r" b="b" t="t" l="l"/>
            <a:pathLst>
              <a:path h="2145011" w="2559123">
                <a:moveTo>
                  <a:pt x="0" y="0"/>
                </a:moveTo>
                <a:lnTo>
                  <a:pt x="2559124" y="0"/>
                </a:lnTo>
                <a:lnTo>
                  <a:pt x="2559124" y="2145011"/>
                </a:lnTo>
                <a:lnTo>
                  <a:pt x="0" y="21450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11099">
            <a:off x="16189164" y="7499784"/>
            <a:ext cx="4273873" cy="3442410"/>
          </a:xfrm>
          <a:custGeom>
            <a:avLst/>
            <a:gdLst/>
            <a:ahLst/>
            <a:cxnLst/>
            <a:rect r="r" b="b" t="t" l="l"/>
            <a:pathLst>
              <a:path h="3442410" w="4273873">
                <a:moveTo>
                  <a:pt x="0" y="0"/>
                </a:moveTo>
                <a:lnTo>
                  <a:pt x="4273873" y="0"/>
                </a:lnTo>
                <a:lnTo>
                  <a:pt x="4273873" y="3442410"/>
                </a:lnTo>
                <a:lnTo>
                  <a:pt x="0" y="344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715617" y="8712820"/>
            <a:ext cx="5791660" cy="4843934"/>
          </a:xfrm>
          <a:custGeom>
            <a:avLst/>
            <a:gdLst/>
            <a:ahLst/>
            <a:cxnLst/>
            <a:rect r="r" b="b" t="t" l="l"/>
            <a:pathLst>
              <a:path h="4843934" w="5791660">
                <a:moveTo>
                  <a:pt x="0" y="0"/>
                </a:moveTo>
                <a:lnTo>
                  <a:pt x="5791660" y="0"/>
                </a:lnTo>
                <a:lnTo>
                  <a:pt x="5791660" y="4843934"/>
                </a:lnTo>
                <a:lnTo>
                  <a:pt x="0" y="48439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71880">
            <a:off x="496802" y="8415559"/>
            <a:ext cx="921149" cy="1573392"/>
          </a:xfrm>
          <a:custGeom>
            <a:avLst/>
            <a:gdLst/>
            <a:ahLst/>
            <a:cxnLst/>
            <a:rect r="r" b="b" t="t" l="l"/>
            <a:pathLst>
              <a:path h="1573392" w="921149">
                <a:moveTo>
                  <a:pt x="0" y="0"/>
                </a:moveTo>
                <a:lnTo>
                  <a:pt x="921149" y="0"/>
                </a:lnTo>
                <a:lnTo>
                  <a:pt x="921149" y="1573391"/>
                </a:lnTo>
                <a:lnTo>
                  <a:pt x="0" y="15733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5400000">
            <a:off x="13349453" y="9197736"/>
            <a:ext cx="2387072" cy="3089152"/>
          </a:xfrm>
          <a:custGeom>
            <a:avLst/>
            <a:gdLst/>
            <a:ahLst/>
            <a:cxnLst/>
            <a:rect r="r" b="b" t="t" l="l"/>
            <a:pathLst>
              <a:path h="3089152" w="2387072">
                <a:moveTo>
                  <a:pt x="2387072" y="0"/>
                </a:moveTo>
                <a:lnTo>
                  <a:pt x="0" y="0"/>
                </a:lnTo>
                <a:lnTo>
                  <a:pt x="0" y="3089152"/>
                </a:lnTo>
                <a:lnTo>
                  <a:pt x="2387072" y="3089152"/>
                </a:lnTo>
                <a:lnTo>
                  <a:pt x="2387072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5400000">
            <a:off x="2200174" y="-1336603"/>
            <a:ext cx="2065660" cy="2673207"/>
          </a:xfrm>
          <a:custGeom>
            <a:avLst/>
            <a:gdLst/>
            <a:ahLst/>
            <a:cxnLst/>
            <a:rect r="r" b="b" t="t" l="l"/>
            <a:pathLst>
              <a:path h="2673207" w="2065660">
                <a:moveTo>
                  <a:pt x="2065660" y="0"/>
                </a:moveTo>
                <a:lnTo>
                  <a:pt x="0" y="0"/>
                </a:lnTo>
                <a:lnTo>
                  <a:pt x="0" y="2673206"/>
                </a:lnTo>
                <a:lnTo>
                  <a:pt x="2065660" y="2673206"/>
                </a:lnTo>
                <a:lnTo>
                  <a:pt x="206566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02357" y="9950421"/>
            <a:ext cx="2424647" cy="2019070"/>
          </a:xfrm>
          <a:custGeom>
            <a:avLst/>
            <a:gdLst/>
            <a:ahLst/>
            <a:cxnLst/>
            <a:rect r="r" b="b" t="t" l="l"/>
            <a:pathLst>
              <a:path h="2019070" w="2424647">
                <a:moveTo>
                  <a:pt x="0" y="0"/>
                </a:moveTo>
                <a:lnTo>
                  <a:pt x="2424647" y="0"/>
                </a:lnTo>
                <a:lnTo>
                  <a:pt x="2424647" y="2019070"/>
                </a:lnTo>
                <a:lnTo>
                  <a:pt x="0" y="20190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916805" y="-1111111"/>
            <a:ext cx="2438194" cy="2030351"/>
          </a:xfrm>
          <a:custGeom>
            <a:avLst/>
            <a:gdLst/>
            <a:ahLst/>
            <a:cxnLst/>
            <a:rect r="r" b="b" t="t" l="l"/>
            <a:pathLst>
              <a:path h="2030351" w="2438194">
                <a:moveTo>
                  <a:pt x="0" y="0"/>
                </a:moveTo>
                <a:lnTo>
                  <a:pt x="2438194" y="0"/>
                </a:lnTo>
                <a:lnTo>
                  <a:pt x="2438194" y="2030351"/>
                </a:lnTo>
                <a:lnTo>
                  <a:pt x="0" y="20303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87637" y="2628582"/>
            <a:ext cx="12312726" cy="99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ป</a:t>
            </a:r>
            <a:r>
              <a:rPr lang="en-US" sz="8000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ระโยชน์ที่คาดว่าจะได้รับ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80957" y="4806878"/>
            <a:ext cx="13664748" cy="143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ช่วยเพิ่มประสิทธิภาพในการบริหารจัดการรถรับ-ส่งและข้อมูลการจองลดความผิดพลาดในการจัดการผู้โดยสาร ผู้ใช้สามารถตรวจสอบและจองการเดินทางได้ล่วงหน้าอย่างสะดวก ขณะที่คนขับสามารถจัดการเส้นทางและ ผู้โดยสารได้อย่างเป็นระบบ นอกจากนี้ข้อมูลสถิติที่ได้จากระบบยังสามารถนำไปใช้ในการวิเคราะห์และพัฒนาการ </a:t>
            </a:r>
            <a:r>
              <a:rPr lang="en-US" sz="27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ให้บริการขนส่งในอนาคตได้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4956764" y="-1693231"/>
            <a:ext cx="5484534" cy="3633504"/>
          </a:xfrm>
          <a:custGeom>
            <a:avLst/>
            <a:gdLst/>
            <a:ahLst/>
            <a:cxnLst/>
            <a:rect r="r" b="b" t="t" l="l"/>
            <a:pathLst>
              <a:path h="3633504" w="5484534">
                <a:moveTo>
                  <a:pt x="0" y="3633503"/>
                </a:moveTo>
                <a:lnTo>
                  <a:pt x="5484534" y="3633503"/>
                </a:lnTo>
                <a:lnTo>
                  <a:pt x="5484534" y="0"/>
                </a:lnTo>
                <a:lnTo>
                  <a:pt x="0" y="0"/>
                </a:lnTo>
                <a:lnTo>
                  <a:pt x="0" y="363350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586562" y="476599"/>
            <a:ext cx="1719551" cy="2087755"/>
          </a:xfrm>
          <a:custGeom>
            <a:avLst/>
            <a:gdLst/>
            <a:ahLst/>
            <a:cxnLst/>
            <a:rect r="r" b="b" t="t" l="l"/>
            <a:pathLst>
              <a:path h="2087755" w="1719551">
                <a:moveTo>
                  <a:pt x="0" y="0"/>
                </a:moveTo>
                <a:lnTo>
                  <a:pt x="1719551" y="0"/>
                </a:lnTo>
                <a:lnTo>
                  <a:pt x="1719551" y="2087755"/>
                </a:lnTo>
                <a:lnTo>
                  <a:pt x="0" y="2087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559123" cy="2145011"/>
          </a:xfrm>
          <a:custGeom>
            <a:avLst/>
            <a:gdLst/>
            <a:ahLst/>
            <a:cxnLst/>
            <a:rect r="r" b="b" t="t" l="l"/>
            <a:pathLst>
              <a:path h="2145011" w="2559123">
                <a:moveTo>
                  <a:pt x="0" y="0"/>
                </a:moveTo>
                <a:lnTo>
                  <a:pt x="2559124" y="0"/>
                </a:lnTo>
                <a:lnTo>
                  <a:pt x="2559124" y="2145011"/>
                </a:lnTo>
                <a:lnTo>
                  <a:pt x="0" y="21450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11099">
            <a:off x="16189164" y="7499784"/>
            <a:ext cx="4273873" cy="3442410"/>
          </a:xfrm>
          <a:custGeom>
            <a:avLst/>
            <a:gdLst/>
            <a:ahLst/>
            <a:cxnLst/>
            <a:rect r="r" b="b" t="t" l="l"/>
            <a:pathLst>
              <a:path h="3442410" w="4273873">
                <a:moveTo>
                  <a:pt x="0" y="0"/>
                </a:moveTo>
                <a:lnTo>
                  <a:pt x="4273873" y="0"/>
                </a:lnTo>
                <a:lnTo>
                  <a:pt x="4273873" y="3442410"/>
                </a:lnTo>
                <a:lnTo>
                  <a:pt x="0" y="344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715617" y="8712820"/>
            <a:ext cx="5791660" cy="4843934"/>
          </a:xfrm>
          <a:custGeom>
            <a:avLst/>
            <a:gdLst/>
            <a:ahLst/>
            <a:cxnLst/>
            <a:rect r="r" b="b" t="t" l="l"/>
            <a:pathLst>
              <a:path h="4843934" w="5791660">
                <a:moveTo>
                  <a:pt x="0" y="0"/>
                </a:moveTo>
                <a:lnTo>
                  <a:pt x="5791660" y="0"/>
                </a:lnTo>
                <a:lnTo>
                  <a:pt x="5791660" y="4843934"/>
                </a:lnTo>
                <a:lnTo>
                  <a:pt x="0" y="48439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71880">
            <a:off x="496802" y="8415559"/>
            <a:ext cx="921149" cy="1573392"/>
          </a:xfrm>
          <a:custGeom>
            <a:avLst/>
            <a:gdLst/>
            <a:ahLst/>
            <a:cxnLst/>
            <a:rect r="r" b="b" t="t" l="l"/>
            <a:pathLst>
              <a:path h="1573392" w="921149">
                <a:moveTo>
                  <a:pt x="0" y="0"/>
                </a:moveTo>
                <a:lnTo>
                  <a:pt x="921149" y="0"/>
                </a:lnTo>
                <a:lnTo>
                  <a:pt x="921149" y="1573391"/>
                </a:lnTo>
                <a:lnTo>
                  <a:pt x="0" y="15733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5400000">
            <a:off x="13349453" y="9197736"/>
            <a:ext cx="2387072" cy="3089152"/>
          </a:xfrm>
          <a:custGeom>
            <a:avLst/>
            <a:gdLst/>
            <a:ahLst/>
            <a:cxnLst/>
            <a:rect r="r" b="b" t="t" l="l"/>
            <a:pathLst>
              <a:path h="3089152" w="2387072">
                <a:moveTo>
                  <a:pt x="2387072" y="0"/>
                </a:moveTo>
                <a:lnTo>
                  <a:pt x="0" y="0"/>
                </a:lnTo>
                <a:lnTo>
                  <a:pt x="0" y="3089152"/>
                </a:lnTo>
                <a:lnTo>
                  <a:pt x="2387072" y="3089152"/>
                </a:lnTo>
                <a:lnTo>
                  <a:pt x="2387072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5400000">
            <a:off x="2200174" y="-1336603"/>
            <a:ext cx="2065660" cy="2673207"/>
          </a:xfrm>
          <a:custGeom>
            <a:avLst/>
            <a:gdLst/>
            <a:ahLst/>
            <a:cxnLst/>
            <a:rect r="r" b="b" t="t" l="l"/>
            <a:pathLst>
              <a:path h="2673207" w="2065660">
                <a:moveTo>
                  <a:pt x="2065660" y="0"/>
                </a:moveTo>
                <a:lnTo>
                  <a:pt x="0" y="0"/>
                </a:lnTo>
                <a:lnTo>
                  <a:pt x="0" y="2673206"/>
                </a:lnTo>
                <a:lnTo>
                  <a:pt x="2065660" y="2673206"/>
                </a:lnTo>
                <a:lnTo>
                  <a:pt x="206566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02357" y="9950421"/>
            <a:ext cx="2424647" cy="2019070"/>
          </a:xfrm>
          <a:custGeom>
            <a:avLst/>
            <a:gdLst/>
            <a:ahLst/>
            <a:cxnLst/>
            <a:rect r="r" b="b" t="t" l="l"/>
            <a:pathLst>
              <a:path h="2019070" w="2424647">
                <a:moveTo>
                  <a:pt x="0" y="0"/>
                </a:moveTo>
                <a:lnTo>
                  <a:pt x="2424647" y="0"/>
                </a:lnTo>
                <a:lnTo>
                  <a:pt x="2424647" y="2019070"/>
                </a:lnTo>
                <a:lnTo>
                  <a:pt x="0" y="20190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916805" y="-1111111"/>
            <a:ext cx="2438194" cy="2030351"/>
          </a:xfrm>
          <a:custGeom>
            <a:avLst/>
            <a:gdLst/>
            <a:ahLst/>
            <a:cxnLst/>
            <a:rect r="r" b="b" t="t" l="l"/>
            <a:pathLst>
              <a:path h="2030351" w="2438194">
                <a:moveTo>
                  <a:pt x="0" y="0"/>
                </a:moveTo>
                <a:lnTo>
                  <a:pt x="2438194" y="0"/>
                </a:lnTo>
                <a:lnTo>
                  <a:pt x="2438194" y="2030351"/>
                </a:lnTo>
                <a:lnTo>
                  <a:pt x="0" y="20303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506943" y="1384696"/>
            <a:ext cx="5642672" cy="8565726"/>
          </a:xfrm>
          <a:custGeom>
            <a:avLst/>
            <a:gdLst/>
            <a:ahLst/>
            <a:cxnLst/>
            <a:rect r="r" b="b" t="t" l="l"/>
            <a:pathLst>
              <a:path h="8565726" w="5642672">
                <a:moveTo>
                  <a:pt x="0" y="0"/>
                </a:moveTo>
                <a:lnTo>
                  <a:pt x="5642672" y="0"/>
                </a:lnTo>
                <a:lnTo>
                  <a:pt x="5642672" y="8565725"/>
                </a:lnTo>
                <a:lnTo>
                  <a:pt x="0" y="85657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987637" y="123139"/>
            <a:ext cx="12312726" cy="99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Class diagram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41888" y="237442"/>
            <a:ext cx="12044920" cy="2249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โปรแกรมการจองขน-ส่งจาก</a:t>
            </a: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 SUT-ไปตัวเมืองนครราชสีมาส่วนของผู้ใช้</a:t>
            </a:r>
          </a:p>
          <a:p>
            <a:pPr algn="ctr">
              <a:lnSpc>
                <a:spcPts val="5788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062559" y="2684117"/>
            <a:ext cx="4399965" cy="3310200"/>
          </a:xfrm>
          <a:custGeom>
            <a:avLst/>
            <a:gdLst/>
            <a:ahLst/>
            <a:cxnLst/>
            <a:rect r="r" b="b" t="t" l="l"/>
            <a:pathLst>
              <a:path h="3310200" w="4399965">
                <a:moveTo>
                  <a:pt x="0" y="0"/>
                </a:moveTo>
                <a:lnTo>
                  <a:pt x="4399964" y="0"/>
                </a:lnTo>
                <a:lnTo>
                  <a:pt x="4399964" y="3310200"/>
                </a:lnTo>
                <a:lnTo>
                  <a:pt x="0" y="33102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083" t="0" r="-2083" b="0"/>
            </a:stretch>
          </a:blipFill>
          <a:ln w="38100" cap="rnd">
            <a:solidFill>
              <a:srgbClr val="AF5117"/>
            </a:solidFill>
            <a:prstDash val="solid"/>
            <a:round/>
          </a:ln>
        </p:spPr>
      </p:sp>
      <p:grpSp>
        <p:nvGrpSpPr>
          <p:cNvPr name="Group 9" id="9"/>
          <p:cNvGrpSpPr/>
          <p:nvPr/>
        </p:nvGrpSpPr>
        <p:grpSpPr>
          <a:xfrm rot="0">
            <a:off x="471867" y="5915941"/>
            <a:ext cx="1195192" cy="1056649"/>
            <a:chOff x="0" y="0"/>
            <a:chExt cx="1593589" cy="140886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158561" y="132398"/>
              <a:ext cx="1276467" cy="1276467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C245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171450"/>
              <a:ext cx="1593589" cy="10916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32"/>
                </a:lnSpc>
              </a:pPr>
              <a:r>
                <a:rPr lang="en-US" sz="6230">
                  <a:solidFill>
                    <a:srgbClr val="AF5117"/>
                  </a:solidFill>
                  <a:latin typeface="Puimek Font TH"/>
                  <a:ea typeface="Puimek Font TH"/>
                  <a:cs typeface="Puimek Font TH"/>
                  <a:sym typeface="Puimek Font TH"/>
                </a:rPr>
                <a:t>2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07533" y="2088152"/>
            <a:ext cx="2734827" cy="42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หน้าสมัครสมาชิก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13149" y="6857524"/>
            <a:ext cx="4589883" cy="3269676"/>
          </a:xfrm>
          <a:custGeom>
            <a:avLst/>
            <a:gdLst/>
            <a:ahLst/>
            <a:cxnLst/>
            <a:rect r="r" b="b" t="t" l="l"/>
            <a:pathLst>
              <a:path h="3269676" w="4589883">
                <a:moveTo>
                  <a:pt x="0" y="0"/>
                </a:moveTo>
                <a:lnTo>
                  <a:pt x="4589883" y="0"/>
                </a:lnTo>
                <a:lnTo>
                  <a:pt x="4589883" y="3269676"/>
                </a:lnTo>
                <a:lnTo>
                  <a:pt x="0" y="326967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7681" t="0" r="-7681" b="0"/>
            </a:stretch>
          </a:blipFill>
          <a:ln w="38100" cap="rnd">
            <a:solidFill>
              <a:srgbClr val="AB4F40"/>
            </a:solidFill>
            <a:prstDash val="solid"/>
            <a:round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6201108" y="6912545"/>
            <a:ext cx="4589883" cy="3159634"/>
          </a:xfrm>
          <a:custGeom>
            <a:avLst/>
            <a:gdLst/>
            <a:ahLst/>
            <a:cxnLst/>
            <a:rect r="r" b="b" t="t" l="l"/>
            <a:pathLst>
              <a:path h="3159634" w="4589883">
                <a:moveTo>
                  <a:pt x="0" y="0"/>
                </a:moveTo>
                <a:lnTo>
                  <a:pt x="4589883" y="0"/>
                </a:lnTo>
                <a:lnTo>
                  <a:pt x="4589883" y="3159634"/>
                </a:lnTo>
                <a:lnTo>
                  <a:pt x="0" y="31596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  <a:ln w="38100" cap="rnd">
            <a:solidFill>
              <a:srgbClr val="AF5117"/>
            </a:solidFill>
            <a:prstDash val="solid"/>
            <a:round/>
          </a:ln>
        </p:spPr>
      </p:sp>
      <p:grpSp>
        <p:nvGrpSpPr>
          <p:cNvPr name="Group 17" id="17"/>
          <p:cNvGrpSpPr/>
          <p:nvPr/>
        </p:nvGrpSpPr>
        <p:grpSpPr>
          <a:xfrm rot="0">
            <a:off x="431394" y="1707560"/>
            <a:ext cx="1276139" cy="1128213"/>
            <a:chOff x="0" y="0"/>
            <a:chExt cx="1701519" cy="1504284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169300" y="141365"/>
              <a:ext cx="1362919" cy="1362919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C245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0" y="171450"/>
              <a:ext cx="1701519" cy="11771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20"/>
                </a:lnSpc>
              </a:pPr>
              <a:r>
                <a:rPr lang="en-US" sz="6652">
                  <a:solidFill>
                    <a:srgbClr val="AF5117"/>
                  </a:solidFill>
                  <a:latin typeface="Puimek Font TH"/>
                  <a:ea typeface="Puimek Font TH"/>
                  <a:cs typeface="Puimek Font TH"/>
                  <a:sym typeface="Puimek Font TH"/>
                </a:rPr>
                <a:t>1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04086" y="2684117"/>
            <a:ext cx="4420143" cy="3204604"/>
          </a:xfrm>
          <a:custGeom>
            <a:avLst/>
            <a:gdLst/>
            <a:ahLst/>
            <a:cxnLst/>
            <a:rect r="r" b="b" t="t" l="l"/>
            <a:pathLst>
              <a:path h="3204604" w="4420143">
                <a:moveTo>
                  <a:pt x="0" y="0"/>
                </a:moveTo>
                <a:lnTo>
                  <a:pt x="4420143" y="0"/>
                </a:lnTo>
                <a:lnTo>
                  <a:pt x="4420143" y="3204603"/>
                </a:lnTo>
                <a:lnTo>
                  <a:pt x="0" y="320460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  <a:ln w="38100" cap="rnd">
            <a:solidFill>
              <a:srgbClr val="AB4F40"/>
            </a:solidFill>
            <a:prstDash val="solid"/>
            <a:round/>
          </a:ln>
        </p:spPr>
      </p:sp>
      <p:sp>
        <p:nvSpPr>
          <p:cNvPr name="TextBox 23" id="23"/>
          <p:cNvSpPr txBox="true"/>
          <p:nvPr/>
        </p:nvSpPr>
        <p:spPr>
          <a:xfrm rot="0">
            <a:off x="11213783" y="3233596"/>
            <a:ext cx="6922054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สมาชิกก่อนเข้าสู่ระบบ โดยผู้ใช้งานจะต้องกรอกข้อมูล</a:t>
            </a:r>
          </a:p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ให้ครบถ้วนตามช่องที่กำหนด ดังนี้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700675" y="3998299"/>
            <a:ext cx="1806503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ชื่อผู้ใช้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รหัสนักศึกษา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EMAIL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รหัสผ่าน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368739" y="7338680"/>
            <a:ext cx="5123046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ผู้ใช้งานก่อนเข้าสู่ระบบ โดยระบบจะแบ่งผู้ใช้งานออกเป็น 2 ประเภทหลัก ได้แก่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67059" y="6260751"/>
            <a:ext cx="2371975" cy="42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หน้าเข้าสู่ระบบ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757503" y="8104264"/>
            <a:ext cx="3095084" cy="158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หน้าหลัก LOGIN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เข้าสู</a:t>
            </a:r>
            <a:r>
              <a:rPr lang="en-US" sz="2299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่ระบบนักศึกษา</a:t>
            </a:r>
          </a:p>
          <a:p>
            <a:pPr algn="l" marL="993135" indent="-331045" lvl="2">
              <a:lnSpc>
                <a:spcPts val="3219"/>
              </a:lnSpc>
              <a:buFont typeface="Arial"/>
              <a:buChar char="⚬"/>
            </a:pPr>
            <a:r>
              <a:rPr lang="en-US" sz="2299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กรอกรหัสนักศึกษา</a:t>
            </a:r>
          </a:p>
          <a:p>
            <a:pPr algn="l" marL="993135" indent="-331045" lvl="2">
              <a:lnSpc>
                <a:spcPts val="3219"/>
              </a:lnSpc>
              <a:buFont typeface="Arial"/>
              <a:buChar char="⚬"/>
            </a:pPr>
            <a:r>
              <a:rPr lang="en-US" sz="2299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รหัสผ่าน</a:t>
            </a:r>
            <a:r>
              <a:rPr lang="en-US" sz="2299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7771" y="1813584"/>
            <a:ext cx="1022189" cy="102218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4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8703" y="3100012"/>
            <a:ext cx="5246370" cy="3226698"/>
            <a:chOff x="0" y="0"/>
            <a:chExt cx="6350000" cy="39054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1270" cy="3905468"/>
            </a:xfrm>
            <a:custGeom>
              <a:avLst/>
              <a:gdLst/>
              <a:ahLst/>
              <a:cxnLst/>
              <a:rect r="r" b="b" t="t" l="l"/>
              <a:pathLst>
                <a:path h="3905468" w="6351270">
                  <a:moveTo>
                    <a:pt x="5985510" y="0"/>
                  </a:moveTo>
                  <a:lnTo>
                    <a:pt x="364490" y="0"/>
                  </a:lnTo>
                  <a:cubicBezTo>
                    <a:pt x="162560" y="0"/>
                    <a:pt x="0" y="99980"/>
                    <a:pt x="0" y="224174"/>
                  </a:cubicBezTo>
                  <a:lnTo>
                    <a:pt x="0" y="3682076"/>
                  </a:lnTo>
                  <a:cubicBezTo>
                    <a:pt x="0" y="3805488"/>
                    <a:pt x="162560" y="3905468"/>
                    <a:pt x="364490" y="3905468"/>
                  </a:cubicBezTo>
                  <a:lnTo>
                    <a:pt x="5986780" y="3905468"/>
                  </a:lnTo>
                  <a:cubicBezTo>
                    <a:pt x="6187440" y="3905468"/>
                    <a:pt x="6351270" y="3805488"/>
                    <a:pt x="6351270" y="3681294"/>
                  </a:cubicBezTo>
                  <a:lnTo>
                    <a:pt x="6351270" y="224174"/>
                  </a:lnTo>
                  <a:cubicBezTo>
                    <a:pt x="6350000" y="99980"/>
                    <a:pt x="6187440" y="0"/>
                    <a:pt x="5985510" y="0"/>
                  </a:cubicBezTo>
                  <a:close/>
                </a:path>
              </a:pathLst>
            </a:custGeom>
            <a:blipFill>
              <a:blip r:embed="rId12"/>
              <a:stretch>
                <a:fillRect l="0" t="-4460" r="0" b="-4460"/>
              </a:stretch>
            </a:blipFill>
            <a:ln w="38100" cap="rnd">
              <a:solidFill>
                <a:srgbClr val="AB4F40"/>
              </a:solidFill>
              <a:prstDash val="solid"/>
              <a:round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457662" y="3100012"/>
            <a:ext cx="5246370" cy="3226698"/>
            <a:chOff x="0" y="0"/>
            <a:chExt cx="6350000" cy="39054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1270" cy="3905468"/>
            </a:xfrm>
            <a:custGeom>
              <a:avLst/>
              <a:gdLst/>
              <a:ahLst/>
              <a:cxnLst/>
              <a:rect r="r" b="b" t="t" l="l"/>
              <a:pathLst>
                <a:path h="3905468" w="6351270">
                  <a:moveTo>
                    <a:pt x="5985510" y="0"/>
                  </a:moveTo>
                  <a:lnTo>
                    <a:pt x="364490" y="0"/>
                  </a:lnTo>
                  <a:cubicBezTo>
                    <a:pt x="162560" y="0"/>
                    <a:pt x="0" y="99980"/>
                    <a:pt x="0" y="224174"/>
                  </a:cubicBezTo>
                  <a:lnTo>
                    <a:pt x="0" y="3682076"/>
                  </a:lnTo>
                  <a:cubicBezTo>
                    <a:pt x="0" y="3805488"/>
                    <a:pt x="162560" y="3905468"/>
                    <a:pt x="364490" y="3905468"/>
                  </a:cubicBezTo>
                  <a:lnTo>
                    <a:pt x="5986780" y="3905468"/>
                  </a:lnTo>
                  <a:cubicBezTo>
                    <a:pt x="6187440" y="3905468"/>
                    <a:pt x="6351270" y="3805488"/>
                    <a:pt x="6351270" y="3681294"/>
                  </a:cubicBezTo>
                  <a:lnTo>
                    <a:pt x="6351270" y="224174"/>
                  </a:lnTo>
                  <a:cubicBezTo>
                    <a:pt x="6350000" y="99980"/>
                    <a:pt x="6187440" y="0"/>
                    <a:pt x="5985510" y="0"/>
                  </a:cubicBezTo>
                  <a:close/>
                </a:path>
              </a:pathLst>
            </a:custGeom>
            <a:blipFill>
              <a:blip r:embed="rId13"/>
              <a:stretch>
                <a:fillRect l="0" t="-13406" r="0" b="-13406"/>
              </a:stretch>
            </a:blipFill>
            <a:ln w="38100" cap="rnd">
              <a:solidFill>
                <a:srgbClr val="AB4F40"/>
              </a:solidFill>
              <a:prstDash val="solid"/>
              <a:round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199332" y="3042081"/>
            <a:ext cx="5246370" cy="3226698"/>
            <a:chOff x="0" y="0"/>
            <a:chExt cx="6350000" cy="39054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1270" cy="3905468"/>
            </a:xfrm>
            <a:custGeom>
              <a:avLst/>
              <a:gdLst/>
              <a:ahLst/>
              <a:cxnLst/>
              <a:rect r="r" b="b" t="t" l="l"/>
              <a:pathLst>
                <a:path h="3905468" w="6351270">
                  <a:moveTo>
                    <a:pt x="5985510" y="0"/>
                  </a:moveTo>
                  <a:lnTo>
                    <a:pt x="364490" y="0"/>
                  </a:lnTo>
                  <a:cubicBezTo>
                    <a:pt x="162560" y="0"/>
                    <a:pt x="0" y="99980"/>
                    <a:pt x="0" y="224174"/>
                  </a:cubicBezTo>
                  <a:lnTo>
                    <a:pt x="0" y="3682076"/>
                  </a:lnTo>
                  <a:cubicBezTo>
                    <a:pt x="0" y="3805488"/>
                    <a:pt x="162560" y="3905468"/>
                    <a:pt x="364490" y="3905468"/>
                  </a:cubicBezTo>
                  <a:lnTo>
                    <a:pt x="5986780" y="3905468"/>
                  </a:lnTo>
                  <a:cubicBezTo>
                    <a:pt x="6187440" y="3905468"/>
                    <a:pt x="6351270" y="3805488"/>
                    <a:pt x="6351270" y="3681294"/>
                  </a:cubicBezTo>
                  <a:lnTo>
                    <a:pt x="6351270" y="224174"/>
                  </a:lnTo>
                  <a:cubicBezTo>
                    <a:pt x="6350000" y="99980"/>
                    <a:pt x="6187440" y="0"/>
                    <a:pt x="5985510" y="0"/>
                  </a:cubicBezTo>
                  <a:close/>
                </a:path>
              </a:pathLst>
            </a:custGeom>
            <a:blipFill>
              <a:blip r:embed="rId14"/>
              <a:stretch>
                <a:fillRect l="0" t="-11952" r="0" b="-11952"/>
              </a:stretch>
            </a:blipFill>
            <a:ln w="38100" cap="rnd">
              <a:solidFill>
                <a:srgbClr val="AB4F40"/>
              </a:solidFill>
              <a:prstDash val="solid"/>
              <a:round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3341888" y="237442"/>
            <a:ext cx="12044920" cy="2249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โปรแกรมการจองขน-ส่งจาก</a:t>
            </a: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 SUT-ไปตัวเมืองนครราชสีมาส่วนของผู้ใช้</a:t>
            </a:r>
          </a:p>
          <a:p>
            <a:pPr algn="ctr">
              <a:lnSpc>
                <a:spcPts val="5788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678603" y="6850585"/>
            <a:ext cx="10767099" cy="284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หน้าจอนี้ใช้สำหรับผู้ใช้งานที่ลืมรหัสผ่าน โดยผู้ใช้ต้องกรอก Email หรือรหัสนักศึกษา ที่เคยลงทะเบียนไว้ในระบบ จากนั้นกดปุ่ม รับรหัส OTP เพื่อเริ่มกระบวนการยืนยันตัวตนระบบ otp นี้ เป็น ระบบ simulation ​ขึ้น มา​โดย​ใช้​การ สุ่ม รหัส ตัว เลข 4 หลัก​ขึ้น มา​</a:t>
            </a:r>
          </a:p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ระบบลืมรหัสผ่านใช้สำหรับผู้ใช้ที่ไม่สามารถเข้าสู่ระบบได้ โดยมีขั้นตอนดังนี้</a:t>
            </a:r>
          </a:p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1.    รับรหัส OTP</a:t>
            </a:r>
          </a:p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2.    ยืนยันรหัส OTP</a:t>
            </a:r>
          </a:p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3.    ตั้งรหัสผ่านใหม่</a:t>
            </a:r>
          </a:p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เมื่อดำเนินการสำเร็จ ผู้ใช้สามารถกลับไปเข้าสู่ระบบด้วยรหัสผ่านใหม่ได้ทันที</a:t>
            </a:r>
          </a:p>
          <a:p>
            <a:pPr algn="l">
              <a:lnSpc>
                <a:spcPts val="249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230796" y="1879010"/>
            <a:ext cx="1276139" cy="84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sz="6652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9960" y="2141164"/>
            <a:ext cx="3091779" cy="42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หน้าลืมรหัสผ่าน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18703" y="6593410"/>
            <a:ext cx="5246370" cy="3226698"/>
            <a:chOff x="0" y="0"/>
            <a:chExt cx="6350000" cy="39054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1270" cy="3905468"/>
            </a:xfrm>
            <a:custGeom>
              <a:avLst/>
              <a:gdLst/>
              <a:ahLst/>
              <a:cxnLst/>
              <a:rect r="r" b="b" t="t" l="l"/>
              <a:pathLst>
                <a:path h="3905468" w="6351270">
                  <a:moveTo>
                    <a:pt x="5985510" y="0"/>
                  </a:moveTo>
                  <a:lnTo>
                    <a:pt x="364490" y="0"/>
                  </a:lnTo>
                  <a:cubicBezTo>
                    <a:pt x="162560" y="0"/>
                    <a:pt x="0" y="99980"/>
                    <a:pt x="0" y="224174"/>
                  </a:cubicBezTo>
                  <a:lnTo>
                    <a:pt x="0" y="3682076"/>
                  </a:lnTo>
                  <a:cubicBezTo>
                    <a:pt x="0" y="3805488"/>
                    <a:pt x="162560" y="3905468"/>
                    <a:pt x="364490" y="3905468"/>
                  </a:cubicBezTo>
                  <a:lnTo>
                    <a:pt x="5986780" y="3905468"/>
                  </a:lnTo>
                  <a:cubicBezTo>
                    <a:pt x="6187440" y="3905468"/>
                    <a:pt x="6351270" y="3805488"/>
                    <a:pt x="6351270" y="3681294"/>
                  </a:cubicBezTo>
                  <a:lnTo>
                    <a:pt x="6351270" y="224174"/>
                  </a:lnTo>
                  <a:cubicBezTo>
                    <a:pt x="6350000" y="99980"/>
                    <a:pt x="6187440" y="0"/>
                    <a:pt x="5985510" y="0"/>
                  </a:cubicBezTo>
                  <a:close/>
                </a:path>
              </a:pathLst>
            </a:custGeom>
            <a:blipFill>
              <a:blip r:embed="rId15"/>
              <a:stretch>
                <a:fillRect l="0" t="-13291" r="0" b="-13291"/>
              </a:stretch>
            </a:blipFill>
            <a:ln w="38100" cap="rnd">
              <a:solidFill>
                <a:srgbClr val="AB4F40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7771" y="1813584"/>
            <a:ext cx="1022189" cy="102218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4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90190" y="5821148"/>
            <a:ext cx="957350" cy="9573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4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06935" y="2714880"/>
            <a:ext cx="4589883" cy="3159634"/>
          </a:xfrm>
          <a:custGeom>
            <a:avLst/>
            <a:gdLst/>
            <a:ahLst/>
            <a:cxnLst/>
            <a:rect r="r" b="b" t="t" l="l"/>
            <a:pathLst>
              <a:path h="3159634" w="4589883">
                <a:moveTo>
                  <a:pt x="0" y="0"/>
                </a:moveTo>
                <a:lnTo>
                  <a:pt x="4589883" y="0"/>
                </a:lnTo>
                <a:lnTo>
                  <a:pt x="4589883" y="3159634"/>
                </a:lnTo>
                <a:lnTo>
                  <a:pt x="0" y="315963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  <a:ln w="38100" cap="rnd">
            <a:solidFill>
              <a:srgbClr val="AF5117"/>
            </a:solidFill>
            <a:prstDash val="solid"/>
            <a:round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126699" y="6837367"/>
            <a:ext cx="5107947" cy="3000919"/>
          </a:xfrm>
          <a:custGeom>
            <a:avLst/>
            <a:gdLst/>
            <a:ahLst/>
            <a:cxnLst/>
            <a:rect r="r" b="b" t="t" l="l"/>
            <a:pathLst>
              <a:path h="3000919" w="5107947">
                <a:moveTo>
                  <a:pt x="0" y="0"/>
                </a:moveTo>
                <a:lnTo>
                  <a:pt x="5107947" y="0"/>
                </a:lnTo>
                <a:lnTo>
                  <a:pt x="5107947" y="3000919"/>
                </a:lnTo>
                <a:lnTo>
                  <a:pt x="0" y="3000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  <a:ln w="38100" cap="rnd">
            <a:solidFill>
              <a:srgbClr val="AB4F40"/>
            </a:solidFill>
            <a:prstDash val="solid"/>
            <a:round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6534995" y="6837367"/>
            <a:ext cx="5002738" cy="2932855"/>
          </a:xfrm>
          <a:custGeom>
            <a:avLst/>
            <a:gdLst/>
            <a:ahLst/>
            <a:cxnLst/>
            <a:rect r="r" b="b" t="t" l="l"/>
            <a:pathLst>
              <a:path h="2932855" w="5002738">
                <a:moveTo>
                  <a:pt x="0" y="0"/>
                </a:moveTo>
                <a:lnTo>
                  <a:pt x="5002739" y="0"/>
                </a:lnTo>
                <a:lnTo>
                  <a:pt x="5002739" y="2932855"/>
                </a:lnTo>
                <a:lnTo>
                  <a:pt x="0" y="293285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  <a:ln w="38100" cap="rnd">
            <a:solidFill>
              <a:srgbClr val="AB4F40"/>
            </a:solidFill>
            <a:prstDash val="solid"/>
            <a:round/>
          </a:ln>
        </p:spPr>
      </p:sp>
      <p:sp>
        <p:nvSpPr>
          <p:cNvPr name="TextBox 16" id="16"/>
          <p:cNvSpPr txBox="true"/>
          <p:nvPr/>
        </p:nvSpPr>
        <p:spPr>
          <a:xfrm rot="0">
            <a:off x="3341888" y="237442"/>
            <a:ext cx="12044920" cy="2249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โปรแกรมการจองขน-ส่งจาก</a:t>
            </a: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 SUT-ไปตัวเมืองนครราชสีมาส่วนของผู้ใช้</a:t>
            </a:r>
          </a:p>
          <a:p>
            <a:pPr algn="ctr">
              <a:lnSpc>
                <a:spcPts val="5788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052841" y="6459648"/>
            <a:ext cx="6235159" cy="378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หน้าจอนี้เป็นหน้าหลักของผู้ใช้งานหลังจากเข้าสู่ระบบสำเร็จใช้สำหรับแสดงข้อมูลการเดินทางจากมหาวิทยาลัยเทคโนโลยีสุรนารีไปยังตัวเมืองนครราชสีมา โดยจะแสดงรายชื่อสถานที่ปลายทาง สถานะของรถและตารางเวลาออกรถเพื่อให้ผู้ใช้งานสามารถตรวจสอบและวางแผนการเดินทางได้อย่างสะดวกซึ่งมีการบอกสถานะทั้งหมด 4 สถานะได้แก่</a:t>
            </a:r>
          </a:p>
          <a:p>
            <a:pPr algn="l" marL="539748" indent="-269874" lvl="1">
              <a:lnSpc>
                <a:spcPts val="2499"/>
              </a:lnSpc>
              <a:buAutoNum type="arabicPeriod" startAt="1"/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สีเทา : ยังไม่มีสถานะ</a:t>
            </a:r>
          </a:p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   </a:t>
            </a: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2. สีเขียว : ถึงสถานีนั้นแล้ว</a:t>
            </a:r>
          </a:p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   3. สีเหลือง : กำลังไปสถานีนั้นแล้ว</a:t>
            </a:r>
          </a:p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   4  สีแดง : ออกมาจากสถานีนั้นแล้ว</a:t>
            </a:r>
          </a:p>
          <a:p>
            <a:pPr algn="l">
              <a:lnSpc>
                <a:spcPts val="249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230796" y="1879010"/>
            <a:ext cx="1276139" cy="84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sz="6652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71269" y="5893300"/>
            <a:ext cx="1195192" cy="77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2"/>
              </a:lnSpc>
            </a:pPr>
            <a:r>
              <a:rPr lang="en-US" sz="6230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34995" y="2767123"/>
            <a:ext cx="10205879" cy="364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หน้าจอนี้เป็นหน้าจอสำหรับเข้าสู่ระบบของผู้ใช้งานในระบบ SUT-TRANSPORT โดยจะแสดงแบบฟอร์มสำหรับกรอกข้อมูลเพื่อยืนยันตัวตนก่อนเข้าใช้งานระบบถ้าใส่ข้อมูลยืนยันผิดระบบจะแสดงว่า Email หรือ รหัสผ่านไม่ถูกต้อง</a:t>
            </a:r>
          </a:p>
          <a:p>
            <a:pPr algn="l">
              <a:lnSpc>
                <a:spcPts val="33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ผู้ใช้งานจะต้องกรอกข้อมูลให้ครบถ้วน ดังนี้</a:t>
            </a:r>
          </a:p>
          <a:p>
            <a:pPr algn="l">
              <a:lnSpc>
                <a:spcPts val="39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·รหัสนักศึกษา</a:t>
            </a:r>
          </a:p>
          <a:p>
            <a:pPr algn="l">
              <a:lnSpc>
                <a:spcPts val="39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·รหัสผ่าน</a:t>
            </a:r>
          </a:p>
          <a:p>
            <a:pPr algn="l">
              <a:lnSpc>
                <a:spcPts val="39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หลังจากกรอกข้อมูลเรียบร้อย ให้กดปุ่ม “เข้าสู่ระบบ” เพื่อทำการเข้าสู่ระบบ</a:t>
            </a:r>
          </a:p>
          <a:p>
            <a:pPr algn="l">
              <a:lnSpc>
                <a:spcPts val="339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379960" y="2141164"/>
            <a:ext cx="6544944" cy="42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หน้าจอเข้าสู่ระบบผู้ใช้งาน (User Login)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6699" y="6081201"/>
            <a:ext cx="5613241" cy="824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หน้าหลักผู้ใช้งาน (User Home)</a:t>
            </a:r>
          </a:p>
          <a:p>
            <a:pPr algn="ctr">
              <a:lnSpc>
                <a:spcPts val="319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7771" y="1813584"/>
            <a:ext cx="1022189" cy="102218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4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90190" y="5919276"/>
            <a:ext cx="957350" cy="9573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4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46638" y="7162376"/>
            <a:ext cx="4790501" cy="2817178"/>
          </a:xfrm>
          <a:custGeom>
            <a:avLst/>
            <a:gdLst/>
            <a:ahLst/>
            <a:cxnLst/>
            <a:rect r="r" b="b" t="t" l="l"/>
            <a:pathLst>
              <a:path h="2817178" w="4790501">
                <a:moveTo>
                  <a:pt x="0" y="0"/>
                </a:moveTo>
                <a:lnTo>
                  <a:pt x="4790500" y="0"/>
                </a:lnTo>
                <a:lnTo>
                  <a:pt x="4790500" y="2817178"/>
                </a:lnTo>
                <a:lnTo>
                  <a:pt x="0" y="28171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  <a:ln w="38100" cap="rnd">
            <a:solidFill>
              <a:srgbClr val="AB4F40"/>
            </a:solidFill>
            <a:prstDash val="solid"/>
            <a:round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6132864" y="7190487"/>
            <a:ext cx="4716633" cy="2760956"/>
          </a:xfrm>
          <a:custGeom>
            <a:avLst/>
            <a:gdLst/>
            <a:ahLst/>
            <a:cxnLst/>
            <a:rect r="r" b="b" t="t" l="l"/>
            <a:pathLst>
              <a:path h="2760956" w="4716633">
                <a:moveTo>
                  <a:pt x="0" y="0"/>
                </a:moveTo>
                <a:lnTo>
                  <a:pt x="4716633" y="0"/>
                </a:lnTo>
                <a:lnTo>
                  <a:pt x="4716633" y="2760956"/>
                </a:lnTo>
                <a:lnTo>
                  <a:pt x="0" y="276095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  <a:ln w="38100" cap="rnd">
            <a:solidFill>
              <a:srgbClr val="AB4F40"/>
            </a:solidFill>
            <a:prstDash val="solid"/>
            <a:round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135818" y="2808924"/>
            <a:ext cx="4997046" cy="2921142"/>
          </a:xfrm>
          <a:custGeom>
            <a:avLst/>
            <a:gdLst/>
            <a:ahLst/>
            <a:cxnLst/>
            <a:rect r="r" b="b" t="t" l="l"/>
            <a:pathLst>
              <a:path h="2921142" w="4997046">
                <a:moveTo>
                  <a:pt x="0" y="0"/>
                </a:moveTo>
                <a:lnTo>
                  <a:pt x="4997046" y="0"/>
                </a:lnTo>
                <a:lnTo>
                  <a:pt x="4997046" y="2921142"/>
                </a:lnTo>
                <a:lnTo>
                  <a:pt x="0" y="292114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  <a:ln w="38100" cap="rnd">
            <a:solidFill>
              <a:srgbClr val="AB4F40"/>
            </a:solidFill>
            <a:prstDash val="solid"/>
            <a:round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6351311" y="2772688"/>
            <a:ext cx="4908962" cy="2957377"/>
          </a:xfrm>
          <a:custGeom>
            <a:avLst/>
            <a:gdLst/>
            <a:ahLst/>
            <a:cxnLst/>
            <a:rect r="r" b="b" t="t" l="l"/>
            <a:pathLst>
              <a:path h="2957377" w="4908962">
                <a:moveTo>
                  <a:pt x="0" y="0"/>
                </a:moveTo>
                <a:lnTo>
                  <a:pt x="4908962" y="0"/>
                </a:lnTo>
                <a:lnTo>
                  <a:pt x="4908962" y="2957378"/>
                </a:lnTo>
                <a:lnTo>
                  <a:pt x="0" y="295737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-1251" b="0"/>
            </a:stretch>
          </a:blipFill>
          <a:ln w="38100" cap="rnd">
            <a:solidFill>
              <a:srgbClr val="AB4F40"/>
            </a:solidFill>
            <a:prstDash val="solid"/>
            <a:round/>
          </a:ln>
        </p:spPr>
      </p:sp>
      <p:sp>
        <p:nvSpPr>
          <p:cNvPr name="TextBox 17" id="17"/>
          <p:cNvSpPr txBox="true"/>
          <p:nvPr/>
        </p:nvSpPr>
        <p:spPr>
          <a:xfrm rot="0">
            <a:off x="3341888" y="237442"/>
            <a:ext cx="12044920" cy="2249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โปรแกรมการจองขน-ส่งจาก</a:t>
            </a: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 SUT-ไปตัวเมืองนครราชสีมาส่วนของผู้ใช้</a:t>
            </a:r>
          </a:p>
          <a:p>
            <a:pPr algn="ctr">
              <a:lnSpc>
                <a:spcPts val="5788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1478721" y="7643865"/>
            <a:ext cx="6307146" cy="190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ใช้สำหรับแสดงประวัติการจองการเดินทางทั้งหมดของผู้ใช้งาน โดยแสดงข้อมูลในรูปแบบตาราง เช่น วันที่ เวลา จุดเริ่มต้น ปลายทาง จำนวนที่นั่ง และสถานะการจอง ผู้ใช้งานสามารถจัดเรียง ค้นหา และยกเลิกการจองได้ในกรณีที่ยังไม่ถึงรอบเดินทาง</a:t>
            </a:r>
          </a:p>
          <a:p>
            <a:pPr algn="l">
              <a:lnSpc>
                <a:spcPts val="249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30796" y="1879010"/>
            <a:ext cx="1276139" cy="84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sz="6652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1269" y="5991427"/>
            <a:ext cx="1195192" cy="77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2"/>
              </a:lnSpc>
            </a:pPr>
            <a:r>
              <a:rPr lang="en-US" sz="6230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78721" y="3470223"/>
            <a:ext cx="6469594" cy="158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ใช้สำหรับจองการเดินทาง โดยผู้ใช้งานเลือกต้นทาง ปลายทาง วันที่ เวลา และเลือกที่นั่งที่ต้องการ จากนั้นกดบันทึกการจอง ระบบจะทำการบันทึกข้อมูลการจองให้เรียบร้อย</a:t>
            </a:r>
          </a:p>
          <a:p>
            <a:pPr algn="l">
              <a:lnSpc>
                <a:spcPts val="249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466461" y="2063006"/>
            <a:ext cx="3691858" cy="824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หน้าจอจองการเดินทาง </a:t>
            </a:r>
          </a:p>
          <a:p>
            <a:pPr algn="ctr">
              <a:lnSpc>
                <a:spcPts val="319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466461" y="6214436"/>
            <a:ext cx="3303392" cy="42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หน้าประวัติการจอง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7771" y="1813584"/>
            <a:ext cx="1022189" cy="102218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4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90190" y="5919276"/>
            <a:ext cx="957350" cy="9573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4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1540" y="2660343"/>
            <a:ext cx="4589883" cy="3159634"/>
            <a:chOff x="0" y="0"/>
            <a:chExt cx="5555414" cy="38242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56684" cy="3824297"/>
            </a:xfrm>
            <a:custGeom>
              <a:avLst/>
              <a:gdLst/>
              <a:ahLst/>
              <a:cxnLst/>
              <a:rect r="r" b="b" t="t" l="l"/>
              <a:pathLst>
                <a:path h="3824297" w="5556684">
                  <a:moveTo>
                    <a:pt x="5236533" y="0"/>
                  </a:moveTo>
                  <a:lnTo>
                    <a:pt x="318881" y="0"/>
                  </a:lnTo>
                  <a:cubicBezTo>
                    <a:pt x="142219" y="0"/>
                    <a:pt x="0" y="97902"/>
                    <a:pt x="0" y="219515"/>
                  </a:cubicBezTo>
                  <a:lnTo>
                    <a:pt x="0" y="3605547"/>
                  </a:lnTo>
                  <a:cubicBezTo>
                    <a:pt x="0" y="3726395"/>
                    <a:pt x="142219" y="3824297"/>
                    <a:pt x="318881" y="3824297"/>
                  </a:cubicBezTo>
                  <a:lnTo>
                    <a:pt x="5237645" y="3824297"/>
                  </a:lnTo>
                  <a:cubicBezTo>
                    <a:pt x="5413196" y="3824297"/>
                    <a:pt x="5556684" y="3726395"/>
                    <a:pt x="5556684" y="3604782"/>
                  </a:cubicBezTo>
                  <a:lnTo>
                    <a:pt x="5556684" y="219515"/>
                  </a:lnTo>
                  <a:cubicBezTo>
                    <a:pt x="5555414" y="97902"/>
                    <a:pt x="5413196" y="0"/>
                    <a:pt x="5236533" y="0"/>
                  </a:cubicBezTo>
                  <a:close/>
                </a:path>
              </a:pathLst>
            </a:custGeom>
            <a:blipFill>
              <a:blip r:embed="rId12"/>
              <a:stretch>
                <a:fillRect l="-8468" t="0" r="-8467" b="0"/>
              </a:stretch>
            </a:blipFill>
            <a:ln w="38100" cap="rnd">
              <a:solidFill>
                <a:srgbClr val="AF5117"/>
              </a:solidFill>
              <a:prstDash val="solid"/>
              <a:round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5909499" y="2660343"/>
            <a:ext cx="4589883" cy="3159634"/>
            <a:chOff x="0" y="0"/>
            <a:chExt cx="5555414" cy="38242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56684" cy="3824297"/>
            </a:xfrm>
            <a:custGeom>
              <a:avLst/>
              <a:gdLst/>
              <a:ahLst/>
              <a:cxnLst/>
              <a:rect r="r" b="b" t="t" l="l"/>
              <a:pathLst>
                <a:path h="3824297" w="5556684">
                  <a:moveTo>
                    <a:pt x="5236533" y="0"/>
                  </a:moveTo>
                  <a:lnTo>
                    <a:pt x="318881" y="0"/>
                  </a:lnTo>
                  <a:cubicBezTo>
                    <a:pt x="142219" y="0"/>
                    <a:pt x="0" y="97902"/>
                    <a:pt x="0" y="219515"/>
                  </a:cubicBezTo>
                  <a:lnTo>
                    <a:pt x="0" y="3605547"/>
                  </a:lnTo>
                  <a:cubicBezTo>
                    <a:pt x="0" y="3726395"/>
                    <a:pt x="142219" y="3824297"/>
                    <a:pt x="318881" y="3824297"/>
                  </a:cubicBezTo>
                  <a:lnTo>
                    <a:pt x="5237645" y="3824297"/>
                  </a:lnTo>
                  <a:cubicBezTo>
                    <a:pt x="5413196" y="3824297"/>
                    <a:pt x="5556684" y="3726395"/>
                    <a:pt x="5556684" y="3604782"/>
                  </a:cubicBezTo>
                  <a:lnTo>
                    <a:pt x="5556684" y="219515"/>
                  </a:lnTo>
                  <a:cubicBezTo>
                    <a:pt x="5555414" y="97902"/>
                    <a:pt x="5413196" y="0"/>
                    <a:pt x="5236533" y="0"/>
                  </a:cubicBezTo>
                  <a:close/>
                </a:path>
              </a:pathLst>
            </a:custGeom>
            <a:blipFill>
              <a:blip r:embed="rId13"/>
              <a:stretch>
                <a:fillRect l="-8468" t="0" r="-8467" b="0"/>
              </a:stretch>
            </a:blipFill>
            <a:ln w="38100" cap="rnd">
              <a:solidFill>
                <a:srgbClr val="AF5117"/>
              </a:solidFill>
              <a:prstDash val="solid"/>
              <a:round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46946" y="6876626"/>
            <a:ext cx="4589883" cy="3159634"/>
            <a:chOff x="0" y="0"/>
            <a:chExt cx="5555414" cy="38242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56684" cy="3824297"/>
            </a:xfrm>
            <a:custGeom>
              <a:avLst/>
              <a:gdLst/>
              <a:ahLst/>
              <a:cxnLst/>
              <a:rect r="r" b="b" t="t" l="l"/>
              <a:pathLst>
                <a:path h="3824297" w="5556684">
                  <a:moveTo>
                    <a:pt x="5236533" y="0"/>
                  </a:moveTo>
                  <a:lnTo>
                    <a:pt x="318881" y="0"/>
                  </a:lnTo>
                  <a:cubicBezTo>
                    <a:pt x="142219" y="0"/>
                    <a:pt x="0" y="97902"/>
                    <a:pt x="0" y="219515"/>
                  </a:cubicBezTo>
                  <a:lnTo>
                    <a:pt x="0" y="3605547"/>
                  </a:lnTo>
                  <a:cubicBezTo>
                    <a:pt x="0" y="3726395"/>
                    <a:pt x="142219" y="3824297"/>
                    <a:pt x="318881" y="3824297"/>
                  </a:cubicBezTo>
                  <a:lnTo>
                    <a:pt x="5237645" y="3824297"/>
                  </a:lnTo>
                  <a:cubicBezTo>
                    <a:pt x="5413196" y="3824297"/>
                    <a:pt x="5556684" y="3726395"/>
                    <a:pt x="5556684" y="3604782"/>
                  </a:cubicBezTo>
                  <a:lnTo>
                    <a:pt x="5556684" y="219515"/>
                  </a:lnTo>
                  <a:cubicBezTo>
                    <a:pt x="5555414" y="97902"/>
                    <a:pt x="5413196" y="0"/>
                    <a:pt x="5236533" y="0"/>
                  </a:cubicBezTo>
                  <a:close/>
                </a:path>
              </a:pathLst>
            </a:custGeom>
            <a:blipFill>
              <a:blip r:embed="rId14"/>
              <a:stretch>
                <a:fillRect l="-9025" t="0" r="-9025" b="0"/>
              </a:stretch>
            </a:blipFill>
            <a:ln w="38100" cap="rnd">
              <a:solidFill>
                <a:srgbClr val="AF5117"/>
              </a:solidFill>
              <a:prstDash val="solid"/>
              <a:round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5811423" y="6876626"/>
            <a:ext cx="4589883" cy="3159634"/>
            <a:chOff x="0" y="0"/>
            <a:chExt cx="5555414" cy="38242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56684" cy="3824297"/>
            </a:xfrm>
            <a:custGeom>
              <a:avLst/>
              <a:gdLst/>
              <a:ahLst/>
              <a:cxnLst/>
              <a:rect r="r" b="b" t="t" l="l"/>
              <a:pathLst>
                <a:path h="3824297" w="5556684">
                  <a:moveTo>
                    <a:pt x="5236533" y="0"/>
                  </a:moveTo>
                  <a:lnTo>
                    <a:pt x="318881" y="0"/>
                  </a:lnTo>
                  <a:cubicBezTo>
                    <a:pt x="142219" y="0"/>
                    <a:pt x="0" y="97902"/>
                    <a:pt x="0" y="219515"/>
                  </a:cubicBezTo>
                  <a:lnTo>
                    <a:pt x="0" y="3605547"/>
                  </a:lnTo>
                  <a:cubicBezTo>
                    <a:pt x="0" y="3726395"/>
                    <a:pt x="142219" y="3824297"/>
                    <a:pt x="318881" y="3824297"/>
                  </a:cubicBezTo>
                  <a:lnTo>
                    <a:pt x="5237645" y="3824297"/>
                  </a:lnTo>
                  <a:cubicBezTo>
                    <a:pt x="5413196" y="3824297"/>
                    <a:pt x="5556684" y="3726395"/>
                    <a:pt x="5556684" y="3604782"/>
                  </a:cubicBezTo>
                  <a:lnTo>
                    <a:pt x="5556684" y="219515"/>
                  </a:lnTo>
                  <a:cubicBezTo>
                    <a:pt x="5555414" y="97902"/>
                    <a:pt x="5413196" y="0"/>
                    <a:pt x="5236533" y="0"/>
                  </a:cubicBezTo>
                  <a:close/>
                </a:path>
              </a:pathLst>
            </a:custGeom>
            <a:blipFill>
              <a:blip r:embed="rId15"/>
              <a:stretch>
                <a:fillRect l="-7910" t="0" r="-7910" b="0"/>
              </a:stretch>
            </a:blipFill>
            <a:ln w="38100" cap="rnd">
              <a:solidFill>
                <a:srgbClr val="AF5117"/>
              </a:solidFill>
              <a:prstDash val="solid"/>
              <a:round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3341888" y="237442"/>
            <a:ext cx="12044920" cy="2249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โปรแกรมการจองขน-ส่งจาก</a:t>
            </a: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 SUT-ไปตัวเมืองนครราชสีมาส่วนของผู้ใช้</a:t>
            </a:r>
          </a:p>
          <a:p>
            <a:pPr algn="ctr">
              <a:lnSpc>
                <a:spcPts val="5788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572756" y="7529344"/>
            <a:ext cx="7687947" cy="190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หน้าจอนี้ใช้สำหรับแสดงเส้นทางการเดินรถจากมหาวิทยาลัยเทคโนโลยีสุรนารีไปยังจุดหมายต่าง ๆ ในตัวเมืองนครราชสีมา ผู้ใช้สามารถดูตำแหน่งสถานีทั้งหมดบนแผนที่ได้</a:t>
            </a:r>
          </a:p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เมื่อเลือกสถานี ระบบจะแสดงรายละเอียดของสถานีนั้น เช่น รูปภาพและลำดับจุดจอด เพื่อช่วยให้ผู้ใช้เข้าใจเส้นทางการเดินรถได้ง่ายและชัดเจน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30796" y="1879010"/>
            <a:ext cx="1276139" cy="84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sz="6652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8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1269" y="5991427"/>
            <a:ext cx="1195192" cy="77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2"/>
              </a:lnSpc>
            </a:pPr>
            <a:r>
              <a:rPr lang="en-US" sz="6230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9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594632" y="3658470"/>
            <a:ext cx="7457682" cy="190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หน้าจอนี้ใช้สำหรับแสดงเส้นทางการเดินรถจากมหาวิทยาลัยเทคโนโลยีสุรนารีไปยังจุดหมายต่าง ๆ ในตัวเมืองนครราชสีมา ผู้ใช้สามารถดูตำแหน่งสถานีทั้งหมดบนแผนที่ได้</a:t>
            </a:r>
          </a:p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เมื่อเลือกสถานี ระบบจะแสดงรายละเอียดของสถานีนั้น เช่น รูปภาพและลำดับจุดจอด เพื่อช่วยให้ผู้ใช้เข้าใจเส้นทางการเดินรถได้ง่ายและชัดเจน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66461" y="2063006"/>
            <a:ext cx="4170368" cy="42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หน้าแผนที่การเดินทาง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66461" y="6214436"/>
            <a:ext cx="3410972" cy="42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หน้าโปรไฟล์ผู้ใช้งาน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7771" y="1813584"/>
            <a:ext cx="1022189" cy="102218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4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7533" y="2837949"/>
            <a:ext cx="6698376" cy="4611102"/>
            <a:chOff x="0" y="0"/>
            <a:chExt cx="5555414" cy="38242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56684" cy="3824297"/>
            </a:xfrm>
            <a:custGeom>
              <a:avLst/>
              <a:gdLst/>
              <a:ahLst/>
              <a:cxnLst/>
              <a:rect r="r" b="b" t="t" l="l"/>
              <a:pathLst>
                <a:path h="3824297" w="5556684">
                  <a:moveTo>
                    <a:pt x="5236533" y="0"/>
                  </a:moveTo>
                  <a:lnTo>
                    <a:pt x="318881" y="0"/>
                  </a:lnTo>
                  <a:cubicBezTo>
                    <a:pt x="142219" y="0"/>
                    <a:pt x="0" y="97902"/>
                    <a:pt x="0" y="219515"/>
                  </a:cubicBezTo>
                  <a:lnTo>
                    <a:pt x="0" y="3605547"/>
                  </a:lnTo>
                  <a:cubicBezTo>
                    <a:pt x="0" y="3726395"/>
                    <a:pt x="142219" y="3824297"/>
                    <a:pt x="318881" y="3824297"/>
                  </a:cubicBezTo>
                  <a:lnTo>
                    <a:pt x="5237645" y="3824297"/>
                  </a:lnTo>
                  <a:cubicBezTo>
                    <a:pt x="5413196" y="3824297"/>
                    <a:pt x="5556684" y="3726395"/>
                    <a:pt x="5556684" y="3604782"/>
                  </a:cubicBezTo>
                  <a:lnTo>
                    <a:pt x="5556684" y="219515"/>
                  </a:lnTo>
                  <a:cubicBezTo>
                    <a:pt x="5555414" y="97902"/>
                    <a:pt x="5413196" y="0"/>
                    <a:pt x="5236533" y="0"/>
                  </a:cubicBezTo>
                  <a:close/>
                </a:path>
              </a:pathLst>
            </a:custGeom>
            <a:blipFill>
              <a:blip r:embed="rId12"/>
              <a:stretch>
                <a:fillRect l="-9184" t="0" r="-9184" b="0"/>
              </a:stretch>
            </a:blipFill>
            <a:ln w="38100" cap="rnd">
              <a:solidFill>
                <a:srgbClr val="AF5117"/>
              </a:solidFill>
              <a:prstDash val="solid"/>
              <a:round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3341888" y="237442"/>
            <a:ext cx="12044920" cy="2249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โปรแกรมการจองขน-ส่งจาก</a:t>
            </a: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 SUT-ไปตัวเมืองนครราชสีมาส่วนของผู้ใช้</a:t>
            </a:r>
          </a:p>
          <a:p>
            <a:pPr algn="ctr">
              <a:lnSpc>
                <a:spcPts val="5788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30796" y="1879010"/>
            <a:ext cx="1276139" cy="84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sz="6652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10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64348" y="3556000"/>
            <a:ext cx="7457682" cy="158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หน้าต่างนี้ใช้สำหรับยืนยันการออกจากระบบ เมื่อผู้ใช้งานกดออกจากระบบ ระบบจะแสดงหน้าต่างแจ้งเตือนเพื่อให้ผู้ใช้งานเลือกยืนยันหรือยกเลิกการออกจากระบบ เพื่อป้องกันการออกจากระบบโดยไม่ตั้งใจ</a:t>
            </a:r>
          </a:p>
          <a:p>
            <a:pPr algn="l">
              <a:lnSpc>
                <a:spcPts val="249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466461" y="2063006"/>
            <a:ext cx="5620918" cy="42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หน้าต่างยืนยันการออกจากระบบ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1540" y="2605322"/>
            <a:ext cx="4589883" cy="3269676"/>
          </a:xfrm>
          <a:custGeom>
            <a:avLst/>
            <a:gdLst/>
            <a:ahLst/>
            <a:cxnLst/>
            <a:rect r="r" b="b" t="t" l="l"/>
            <a:pathLst>
              <a:path h="3269676" w="4589883">
                <a:moveTo>
                  <a:pt x="0" y="0"/>
                </a:moveTo>
                <a:lnTo>
                  <a:pt x="4589883" y="0"/>
                </a:lnTo>
                <a:lnTo>
                  <a:pt x="4589883" y="3269676"/>
                </a:lnTo>
                <a:lnTo>
                  <a:pt x="0" y="326967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7681" t="0" r="-7681" b="0"/>
            </a:stretch>
          </a:blipFill>
          <a:ln w="38100" cap="rnd">
            <a:solidFill>
              <a:srgbClr val="AB4F40"/>
            </a:solidFill>
            <a:prstDash val="solid"/>
            <a:round/>
          </a:ln>
        </p:spPr>
      </p:sp>
      <p:grpSp>
        <p:nvGrpSpPr>
          <p:cNvPr name="Group 8" id="8"/>
          <p:cNvGrpSpPr/>
          <p:nvPr/>
        </p:nvGrpSpPr>
        <p:grpSpPr>
          <a:xfrm rot="0">
            <a:off x="357771" y="1813584"/>
            <a:ext cx="1022189" cy="102218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4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811423" y="6678879"/>
            <a:ext cx="4399965" cy="3310200"/>
          </a:xfrm>
          <a:custGeom>
            <a:avLst/>
            <a:gdLst/>
            <a:ahLst/>
            <a:cxnLst/>
            <a:rect r="r" b="b" t="t" l="l"/>
            <a:pathLst>
              <a:path h="3310200" w="4399965">
                <a:moveTo>
                  <a:pt x="0" y="0"/>
                </a:moveTo>
                <a:lnTo>
                  <a:pt x="4399965" y="0"/>
                </a:lnTo>
                <a:lnTo>
                  <a:pt x="4399965" y="3310200"/>
                </a:lnTo>
                <a:lnTo>
                  <a:pt x="0" y="33102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083" t="0" r="-2083" b="0"/>
            </a:stretch>
          </a:blipFill>
          <a:ln w="38100" cap="rnd">
            <a:solidFill>
              <a:srgbClr val="AF5117"/>
            </a:solidFill>
            <a:prstDash val="solid"/>
            <a:round/>
          </a:ln>
        </p:spPr>
      </p:sp>
      <p:grpSp>
        <p:nvGrpSpPr>
          <p:cNvPr name="Group 12" id="12"/>
          <p:cNvGrpSpPr/>
          <p:nvPr/>
        </p:nvGrpSpPr>
        <p:grpSpPr>
          <a:xfrm rot="0">
            <a:off x="390190" y="5919276"/>
            <a:ext cx="957350" cy="95735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4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909499" y="2660343"/>
            <a:ext cx="4589883" cy="3159634"/>
          </a:xfrm>
          <a:custGeom>
            <a:avLst/>
            <a:gdLst/>
            <a:ahLst/>
            <a:cxnLst/>
            <a:rect r="r" b="b" t="t" l="l"/>
            <a:pathLst>
              <a:path h="3159634" w="4589883">
                <a:moveTo>
                  <a:pt x="0" y="0"/>
                </a:moveTo>
                <a:lnTo>
                  <a:pt x="4589883" y="0"/>
                </a:lnTo>
                <a:lnTo>
                  <a:pt x="4589883" y="3159634"/>
                </a:lnTo>
                <a:lnTo>
                  <a:pt x="0" y="31596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  <a:ln w="38100" cap="rnd">
            <a:solidFill>
              <a:srgbClr val="AF5117"/>
            </a:solidFill>
            <a:prstDash val="solid"/>
            <a:round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221540" y="6743391"/>
            <a:ext cx="4563103" cy="3313954"/>
          </a:xfrm>
          <a:custGeom>
            <a:avLst/>
            <a:gdLst/>
            <a:ahLst/>
            <a:cxnLst/>
            <a:rect r="r" b="b" t="t" l="l"/>
            <a:pathLst>
              <a:path h="3313954" w="4563103">
                <a:moveTo>
                  <a:pt x="0" y="0"/>
                </a:moveTo>
                <a:lnTo>
                  <a:pt x="4563103" y="0"/>
                </a:lnTo>
                <a:lnTo>
                  <a:pt x="4563103" y="3313953"/>
                </a:lnTo>
                <a:lnTo>
                  <a:pt x="0" y="331395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  <a:ln w="38100" cap="rnd">
            <a:solidFill>
              <a:srgbClr val="AF5117"/>
            </a:solidFill>
            <a:prstDash val="solid"/>
            <a:round/>
          </a:ln>
        </p:spPr>
      </p:sp>
      <p:sp>
        <p:nvSpPr>
          <p:cNvPr name="TextBox 17" id="17"/>
          <p:cNvSpPr txBox="true"/>
          <p:nvPr/>
        </p:nvSpPr>
        <p:spPr>
          <a:xfrm rot="0">
            <a:off x="3211261" y="287631"/>
            <a:ext cx="12044920" cy="78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ส่วนของคนขับ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33187" y="7393550"/>
            <a:ext cx="5545864" cy="158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หน้าจอนี้เป็นหน้าสำหรับ สมัครสมาชิกในส่วนของคนขับ ผู้ใช้งานจะต้องกรอกข้อมูล ได้แก่ ชื่อผู้ใช้, Email, รหัสผ่าน และหมายเลขรถหรือ Bus ID จากนั้นกดปุ่ม ลงทะเบียน เพื่อบันทึกข้อมูลเข้าสู่ระบบ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0796" y="1879010"/>
            <a:ext cx="1276139" cy="84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sz="6652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1269" y="5991427"/>
            <a:ext cx="1195192" cy="77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2"/>
              </a:lnSpc>
            </a:pPr>
            <a:r>
              <a:rPr lang="en-US" sz="6230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02350" y="3470223"/>
            <a:ext cx="4256251" cy="158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หน้าจอนี้เป็นหน้าเริ่มต้นของระบบ </a:t>
            </a:r>
          </a:p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SUT-TRANSPORT ใช้สำหรับให้ผู้ใช้งานเลือกประเภทการเข้าใช้งาน โดยจะแบ่งออกเป็น </a:t>
            </a:r>
          </a:p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2 ประเภท คือ นักศึกษา และ คนขับ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6461" y="2063006"/>
            <a:ext cx="2371975" cy="42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หน้าเข้าสู่ระบบ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66461" y="6214436"/>
            <a:ext cx="2734827" cy="42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หน้าสมัครสมาชิก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7771" y="1813584"/>
            <a:ext cx="1022189" cy="102218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4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90190" y="5919276"/>
            <a:ext cx="957350" cy="9573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4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221540" y="6767272"/>
            <a:ext cx="5082769" cy="2979773"/>
          </a:xfrm>
          <a:custGeom>
            <a:avLst/>
            <a:gdLst/>
            <a:ahLst/>
            <a:cxnLst/>
            <a:rect r="r" b="b" t="t" l="l"/>
            <a:pathLst>
              <a:path h="2979773" w="5082769">
                <a:moveTo>
                  <a:pt x="0" y="0"/>
                </a:moveTo>
                <a:lnTo>
                  <a:pt x="5082769" y="0"/>
                </a:lnTo>
                <a:lnTo>
                  <a:pt x="5082769" y="2979773"/>
                </a:lnTo>
                <a:lnTo>
                  <a:pt x="0" y="297977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  <a:ln w="38100" cap="rnd">
            <a:solidFill>
              <a:srgbClr val="AF5117"/>
            </a:solidFill>
            <a:prstDash val="solid"/>
            <a:round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6469472" y="6767272"/>
            <a:ext cx="4998552" cy="2886664"/>
          </a:xfrm>
          <a:custGeom>
            <a:avLst/>
            <a:gdLst/>
            <a:ahLst/>
            <a:cxnLst/>
            <a:rect r="r" b="b" t="t" l="l"/>
            <a:pathLst>
              <a:path h="2886664" w="4998552">
                <a:moveTo>
                  <a:pt x="0" y="0"/>
                </a:moveTo>
                <a:lnTo>
                  <a:pt x="4998552" y="0"/>
                </a:lnTo>
                <a:lnTo>
                  <a:pt x="4998552" y="2886664"/>
                </a:lnTo>
                <a:lnTo>
                  <a:pt x="0" y="288666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  <a:ln w="38100" cap="rnd">
            <a:solidFill>
              <a:srgbClr val="AB4F40"/>
            </a:solidFill>
            <a:prstDash val="solid"/>
            <a:round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6469472" y="2860589"/>
            <a:ext cx="4836984" cy="2854614"/>
          </a:xfrm>
          <a:custGeom>
            <a:avLst/>
            <a:gdLst/>
            <a:ahLst/>
            <a:cxnLst/>
            <a:rect r="r" b="b" t="t" l="l"/>
            <a:pathLst>
              <a:path h="2854614" w="4836984">
                <a:moveTo>
                  <a:pt x="0" y="0"/>
                </a:moveTo>
                <a:lnTo>
                  <a:pt x="4836984" y="0"/>
                </a:lnTo>
                <a:lnTo>
                  <a:pt x="4836984" y="2854613"/>
                </a:lnTo>
                <a:lnTo>
                  <a:pt x="0" y="285461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  <a:ln w="38100" cap="rnd">
            <a:solidFill>
              <a:srgbClr val="AB4F40"/>
            </a:solidFill>
            <a:prstDash val="solid"/>
            <a:round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466461" y="2835773"/>
            <a:ext cx="4718043" cy="2788228"/>
          </a:xfrm>
          <a:custGeom>
            <a:avLst/>
            <a:gdLst/>
            <a:ahLst/>
            <a:cxnLst/>
            <a:rect r="r" b="b" t="t" l="l"/>
            <a:pathLst>
              <a:path h="2788228" w="4718043">
                <a:moveTo>
                  <a:pt x="0" y="0"/>
                </a:moveTo>
                <a:lnTo>
                  <a:pt x="4718043" y="0"/>
                </a:lnTo>
                <a:lnTo>
                  <a:pt x="4718043" y="2788228"/>
                </a:lnTo>
                <a:lnTo>
                  <a:pt x="0" y="278822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  <a:ln w="38100" cap="rnd">
            <a:solidFill>
              <a:srgbClr val="AB4F40"/>
            </a:solidFill>
            <a:prstDash val="solid"/>
            <a:round/>
          </a:ln>
        </p:spPr>
      </p:sp>
      <p:sp>
        <p:nvSpPr>
          <p:cNvPr name="TextBox 17" id="17"/>
          <p:cNvSpPr txBox="true"/>
          <p:nvPr/>
        </p:nvSpPr>
        <p:spPr>
          <a:xfrm rot="0">
            <a:off x="3211261" y="287631"/>
            <a:ext cx="12044920" cy="78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ส่วนของคนขับ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33187" y="7393550"/>
            <a:ext cx="6152680" cy="158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หน้าจอนี้ใช้แสดงรายการผู้โดยสารในแต่ละรอบการเดินรถ พร้อมข้อมูลวันเดินทาง รอบเวลา และสถานะที่นั่ง เพื่อให้คนขับตรวจสอบและยืนยันผู้โดยสารก่อนออกเดินทาง โดยเมื่อยืนยันแล้วสามารถกดปุ่ม ตกลง เพื่อดำเนินการต่อได้ครับ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0796" y="1879010"/>
            <a:ext cx="1276139" cy="84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sz="6652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1269" y="5991427"/>
            <a:ext cx="1195192" cy="77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2"/>
              </a:lnSpc>
            </a:pPr>
            <a:r>
              <a:rPr lang="en-US" sz="6230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02350" y="3470223"/>
            <a:ext cx="5756950" cy="158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หน้าจอนี้ใช้แสดงรายชื่อสถานีและจำนวนผู้โดยสารในแต่ละสถานี เมื่อกดปุ่ม สถานีถัดไป ระบบจะเลื่อนไปยังสถานีถัดไปและแสดงสถานีที่กำลังให้บริการอยู่ เมื่อถึงสถานีสุดท้าย ระบบจะเริ่มรอบถัดไปให้อัตโนมัติครับ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6461" y="2063006"/>
            <a:ext cx="3082681" cy="42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หน้าเลือกรอบเวลา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66461" y="6214436"/>
            <a:ext cx="4135934" cy="42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หน้ารายการคิว ผู้โดยสาร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7771" y="1813584"/>
            <a:ext cx="1022189" cy="102218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4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90190" y="5919276"/>
            <a:ext cx="957350" cy="9573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4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264160" y="2940548"/>
            <a:ext cx="4997530" cy="2961037"/>
          </a:xfrm>
          <a:custGeom>
            <a:avLst/>
            <a:gdLst/>
            <a:ahLst/>
            <a:cxnLst/>
            <a:rect r="r" b="b" t="t" l="l"/>
            <a:pathLst>
              <a:path h="2961037" w="4997530">
                <a:moveTo>
                  <a:pt x="0" y="0"/>
                </a:moveTo>
                <a:lnTo>
                  <a:pt x="4997530" y="0"/>
                </a:lnTo>
                <a:lnTo>
                  <a:pt x="4997530" y="2961037"/>
                </a:lnTo>
                <a:lnTo>
                  <a:pt x="0" y="29610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  <a:ln w="38100" cap="rnd">
            <a:solidFill>
              <a:srgbClr val="AB4F40"/>
            </a:solidFill>
            <a:prstDash val="solid"/>
            <a:round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6403802" y="2994979"/>
            <a:ext cx="4956436" cy="2924297"/>
          </a:xfrm>
          <a:custGeom>
            <a:avLst/>
            <a:gdLst/>
            <a:ahLst/>
            <a:cxnLst/>
            <a:rect r="r" b="b" t="t" l="l"/>
            <a:pathLst>
              <a:path h="2924297" w="4956436">
                <a:moveTo>
                  <a:pt x="0" y="0"/>
                </a:moveTo>
                <a:lnTo>
                  <a:pt x="4956436" y="0"/>
                </a:lnTo>
                <a:lnTo>
                  <a:pt x="4956436" y="2924297"/>
                </a:lnTo>
                <a:lnTo>
                  <a:pt x="0" y="29242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  <a:ln w="38100" cap="rnd">
            <a:solidFill>
              <a:srgbClr val="AB4F40"/>
            </a:solidFill>
            <a:prstDash val="solid"/>
            <a:round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6406387" y="6638616"/>
            <a:ext cx="5095963" cy="3007454"/>
          </a:xfrm>
          <a:custGeom>
            <a:avLst/>
            <a:gdLst/>
            <a:ahLst/>
            <a:cxnLst/>
            <a:rect r="r" b="b" t="t" l="l"/>
            <a:pathLst>
              <a:path h="3007454" w="5095963">
                <a:moveTo>
                  <a:pt x="0" y="0"/>
                </a:moveTo>
                <a:lnTo>
                  <a:pt x="5095963" y="0"/>
                </a:lnTo>
                <a:lnTo>
                  <a:pt x="5095963" y="3007453"/>
                </a:lnTo>
                <a:lnTo>
                  <a:pt x="0" y="300745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  <a:ln w="38100" cap="rnd">
            <a:solidFill>
              <a:srgbClr val="AB4F40"/>
            </a:solidFill>
            <a:prstDash val="solid"/>
            <a:round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347541" y="6714289"/>
            <a:ext cx="4826293" cy="2856108"/>
          </a:xfrm>
          <a:custGeom>
            <a:avLst/>
            <a:gdLst/>
            <a:ahLst/>
            <a:cxnLst/>
            <a:rect r="r" b="b" t="t" l="l"/>
            <a:pathLst>
              <a:path h="2856108" w="4826293">
                <a:moveTo>
                  <a:pt x="0" y="0"/>
                </a:moveTo>
                <a:lnTo>
                  <a:pt x="4826293" y="0"/>
                </a:lnTo>
                <a:lnTo>
                  <a:pt x="4826293" y="2856107"/>
                </a:lnTo>
                <a:lnTo>
                  <a:pt x="0" y="285610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  <a:ln w="38100" cap="rnd">
            <a:solidFill>
              <a:srgbClr val="AB4F40"/>
            </a:solidFill>
            <a:prstDash val="solid"/>
            <a:round/>
          </a:ln>
        </p:spPr>
      </p:sp>
      <p:sp>
        <p:nvSpPr>
          <p:cNvPr name="TextBox 17" id="17"/>
          <p:cNvSpPr txBox="true"/>
          <p:nvPr/>
        </p:nvSpPr>
        <p:spPr>
          <a:xfrm rot="0">
            <a:off x="3211261" y="287631"/>
            <a:ext cx="12044920" cy="78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ส่วนของคนขับ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33187" y="6924251"/>
            <a:ext cx="5626113" cy="253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หน้าจอนี้ใช้สำหรับแสดงสรุปจำนวนผู้โดยสารและสถิติการเดินทางในแต่ละวันโดยแสดงข้อมูลในรูปแบบกราฟ เพื่อให้คนขับสามารถดูภาพรวมของจำนวนผู้โดยสารและปลายทางที่มีการใช้งานมากที่สุดได้อย่างชัดเจน มีตัวกรองข้อมูลที่สามารถดูเฉพาะวันนั้นได้สารถเปลี่ยนจากสถานีปลายทางเป็นเวลาแทนได้</a:t>
            </a:r>
          </a:p>
          <a:p>
            <a:pPr algn="l">
              <a:lnSpc>
                <a:spcPts val="249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30796" y="1879010"/>
            <a:ext cx="1276139" cy="84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sz="6652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1269" y="5991427"/>
            <a:ext cx="1195192" cy="77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2"/>
              </a:lnSpc>
            </a:pPr>
            <a:r>
              <a:rPr lang="en-US" sz="6230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02350" y="3186983"/>
            <a:ext cx="6283517" cy="284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หน้าจอนี้ใช้สำหรับแสดงเส้นทางการเดินรถจากมหาวิทยาลัยเทคโนโลยีสุรนารีไปยังจุดหมายต่าง ๆ ในตัวเมืองนครราชสีมา ผู้ใช้สามารถดูตำแหน่งสถานีทั้งหมดบนแผนที่ได้</a:t>
            </a:r>
          </a:p>
          <a:p>
            <a:pPr algn="l">
              <a:lnSpc>
                <a:spcPts val="2499"/>
              </a:lnSpc>
            </a:pPr>
          </a:p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เมื่อเลือกสถานี ระบบจะแสดงรายละเอียดของสถานีนั้น เช่น รูปภาพและลำดับจุดจอด เพื่อช่วยให้ผู้ใช้เข้าใจเส้นทางการเดินรถได้ง่ายและชัดเจน</a:t>
            </a:r>
          </a:p>
          <a:p>
            <a:pPr algn="l">
              <a:lnSpc>
                <a:spcPts val="249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466461" y="2063006"/>
            <a:ext cx="3845003" cy="42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หน้าแผนที่การเดินทาง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66461" y="6214436"/>
            <a:ext cx="3121195" cy="42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หน้าสรุปยอดสถิติ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7771" y="1813584"/>
            <a:ext cx="1022189" cy="102218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4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90190" y="5919276"/>
            <a:ext cx="957350" cy="9573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4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264160" y="6872047"/>
            <a:ext cx="4997530" cy="2942296"/>
          </a:xfrm>
          <a:custGeom>
            <a:avLst/>
            <a:gdLst/>
            <a:ahLst/>
            <a:cxnLst/>
            <a:rect r="r" b="b" t="t" l="l"/>
            <a:pathLst>
              <a:path h="2942296" w="4997530">
                <a:moveTo>
                  <a:pt x="0" y="0"/>
                </a:moveTo>
                <a:lnTo>
                  <a:pt x="4997530" y="0"/>
                </a:lnTo>
                <a:lnTo>
                  <a:pt x="4997530" y="2942295"/>
                </a:lnTo>
                <a:lnTo>
                  <a:pt x="0" y="29422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  <a:ln w="38100" cap="rnd">
            <a:solidFill>
              <a:srgbClr val="AB4F40"/>
            </a:solidFill>
            <a:prstDash val="solid"/>
            <a:round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322413" y="3057776"/>
            <a:ext cx="4881023" cy="2861500"/>
          </a:xfrm>
          <a:custGeom>
            <a:avLst/>
            <a:gdLst/>
            <a:ahLst/>
            <a:cxnLst/>
            <a:rect r="r" b="b" t="t" l="l"/>
            <a:pathLst>
              <a:path h="2861500" w="4881023">
                <a:moveTo>
                  <a:pt x="0" y="0"/>
                </a:moveTo>
                <a:lnTo>
                  <a:pt x="4881023" y="0"/>
                </a:lnTo>
                <a:lnTo>
                  <a:pt x="4881023" y="2861500"/>
                </a:lnTo>
                <a:lnTo>
                  <a:pt x="0" y="28615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  <a:ln w="38100" cap="rnd">
            <a:solidFill>
              <a:srgbClr val="AF5117"/>
            </a:solidFill>
            <a:prstDash val="solid"/>
            <a:round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6647806" y="2973767"/>
            <a:ext cx="4992389" cy="2945509"/>
          </a:xfrm>
          <a:custGeom>
            <a:avLst/>
            <a:gdLst/>
            <a:ahLst/>
            <a:cxnLst/>
            <a:rect r="r" b="b" t="t" l="l"/>
            <a:pathLst>
              <a:path h="2945509" w="4992389">
                <a:moveTo>
                  <a:pt x="0" y="0"/>
                </a:moveTo>
                <a:lnTo>
                  <a:pt x="4992388" y="0"/>
                </a:lnTo>
                <a:lnTo>
                  <a:pt x="4992388" y="2945509"/>
                </a:lnTo>
                <a:lnTo>
                  <a:pt x="0" y="294550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  <a:ln w="38100" cap="rnd">
            <a:solidFill>
              <a:srgbClr val="AB4F40"/>
            </a:solidFill>
            <a:prstDash val="solid"/>
            <a:round/>
          </a:ln>
        </p:spPr>
      </p:sp>
      <p:sp>
        <p:nvSpPr>
          <p:cNvPr name="TextBox 16" id="16"/>
          <p:cNvSpPr txBox="true"/>
          <p:nvPr/>
        </p:nvSpPr>
        <p:spPr>
          <a:xfrm rot="0">
            <a:off x="3211261" y="287631"/>
            <a:ext cx="12044920" cy="78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ส่วนของคนขับ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23950" y="7985125"/>
            <a:ext cx="8765488" cy="127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หน้าต่างนี้ใช้สำหรับยืนยันการออกจากระบบของคนขับ เมื่อกดออกจากระบบ ระบบจะแสดงข้อความให้เลือก ยืนยัน เพื่อออกจากระบบ หรือ กลับ เพื่อยกเลิกและใช้งานต่อ ป้องกันการออกจากระบบโดยไม่ตั้งใจ</a:t>
            </a:r>
          </a:p>
          <a:p>
            <a:pPr algn="ctr">
              <a:lnSpc>
                <a:spcPts val="249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230796" y="1879010"/>
            <a:ext cx="1276139" cy="84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sz="6652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7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71269" y="5991427"/>
            <a:ext cx="1195192" cy="77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2"/>
              </a:lnSpc>
            </a:pPr>
            <a:r>
              <a:rPr lang="en-US" sz="6230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8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24791" y="3556000"/>
            <a:ext cx="5896345" cy="127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หน้าจอนี้ใช้สำหรับแสดงและแก้ไขข้อมูลส่วนตัวของคนขับ เช่น ชื่อผู้ใช้ รหัสรถ รหัสผ่าน และอีเมล เมื่อแก้ไขเสร็จสามารถกดปุ่ม บันทึก เพื่ออัปเดตข้อมูลในระบบได้ครับ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66461" y="2063006"/>
            <a:ext cx="2371975" cy="42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โปรไฟล์คนขับ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6461" y="6214436"/>
            <a:ext cx="5252759" cy="42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หน้าต่างยืนยันการออกจากระบบ 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53791" y="55958"/>
            <a:ext cx="12044920" cy="15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การใช้แนวคิด INHERITANCE ในการพัฒนา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3476" y="2437010"/>
            <a:ext cx="14938632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   ระบบได้กำหนดให้คลาส User ซึ่งอยู่ในไฟล์ src/model/User.java เป็นคลาสแม่ (Superclass) สำหรับผู้ใช้งานทุกประเภท โดยคลาสนี้ทำหน้าที่เก็บข้อมูลพื้นฐานที่ใช้ร่วมกัน ได้แก่ username, password, name, email และ type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3476" y="1764710"/>
            <a:ext cx="4215266" cy="42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31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1.คลาสUser(Superclass)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3476" y="3300610"/>
            <a:ext cx="3357711" cy="8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9"/>
              </a:lnSpc>
              <a:spcBef>
                <a:spcPct val="0"/>
              </a:spcBef>
            </a:pPr>
            <a:r>
              <a:rPr lang="en-US" b="true" sz="29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1. </a:t>
            </a:r>
            <a:r>
              <a:rPr lang="en-US" b="true" sz="29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คลาส USER (SUPERCLASS)</a:t>
            </a:r>
          </a:p>
          <a:p>
            <a:pPr algn="ctr">
              <a:lnSpc>
                <a:spcPts val="338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583476" y="3675895"/>
            <a:ext cx="7443439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ระบบได้กำหนดให้คลาส User ซึ่งอยู่ในไฟล์ src/model/User.java เป็นคลาสแม่ (Superclass) สำหรับผู้ใช้งานทุกประเภท โดยคลาสนี้ทำหน้าที่เก็บข้อมูลพื้นฐานที่ใช้ร่วมกัน ได้แก่ username, password, name, email และ type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144000" y="3281560"/>
            <a:ext cx="7472407" cy="6864188"/>
          </a:xfrm>
          <a:custGeom>
            <a:avLst/>
            <a:gdLst/>
            <a:ahLst/>
            <a:cxnLst/>
            <a:rect r="r" b="b" t="t" l="l"/>
            <a:pathLst>
              <a:path h="6864188" w="7472407">
                <a:moveTo>
                  <a:pt x="0" y="0"/>
                </a:moveTo>
                <a:lnTo>
                  <a:pt x="7472407" y="0"/>
                </a:lnTo>
                <a:lnTo>
                  <a:pt x="7472407" y="6864188"/>
                </a:lnTo>
                <a:lnTo>
                  <a:pt x="0" y="686418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53791" y="55958"/>
            <a:ext cx="12044920" cy="15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การใช้แนวคิด INHERITANCE ในการพัฒนา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6403" y="1726610"/>
            <a:ext cx="3298775" cy="8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9"/>
              </a:lnSpc>
              <a:spcBef>
                <a:spcPct val="0"/>
              </a:spcBef>
            </a:pPr>
            <a:r>
              <a:rPr lang="en-US" b="true" sz="29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2</a:t>
            </a:r>
            <a:r>
              <a:rPr lang="en-US" b="true" sz="29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. </a:t>
            </a:r>
            <a:r>
              <a:rPr lang="en-US" b="true" sz="29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คลาส DRIVER (SUBCLASS)</a:t>
            </a:r>
          </a:p>
          <a:p>
            <a:pPr algn="ctr">
              <a:lnSpc>
                <a:spcPts val="338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506935" y="2101895"/>
            <a:ext cx="7443439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คลาส Driver ซึ่งอยู่ในไฟล์ src/model/Driver.java เป็นคลาสลูกที่สืบทอดจากคลาส User โดยใช้คำสั่ง extends User ทำให้สามารถใช้งานข้อมูลและเมธอดจากคลาส User ได้ทันที และสามารถเพิ่มข้อมูลเฉพาะของคนขับได้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06935" y="3533820"/>
            <a:ext cx="9463400" cy="4826020"/>
          </a:xfrm>
          <a:custGeom>
            <a:avLst/>
            <a:gdLst/>
            <a:ahLst/>
            <a:cxnLst/>
            <a:rect r="r" b="b" t="t" l="l"/>
            <a:pathLst>
              <a:path h="4826020" w="9463400">
                <a:moveTo>
                  <a:pt x="0" y="0"/>
                </a:moveTo>
                <a:lnTo>
                  <a:pt x="9463400" y="0"/>
                </a:lnTo>
                <a:lnTo>
                  <a:pt x="9463400" y="4826020"/>
                </a:lnTo>
                <a:lnTo>
                  <a:pt x="0" y="48260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53791" y="55958"/>
            <a:ext cx="12044920" cy="15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การใช้แนวคิด INHERITANCE ในการพัฒนา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2812" y="1726610"/>
            <a:ext cx="6035873" cy="8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9"/>
              </a:lnSpc>
              <a:spcBef>
                <a:spcPct val="0"/>
              </a:spcBef>
            </a:pPr>
            <a:r>
              <a:rPr lang="en-US" b="true" sz="29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3</a:t>
            </a:r>
            <a:r>
              <a:rPr lang="en-US" b="true" sz="29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. การใช้ง</a:t>
            </a:r>
            <a:r>
              <a:rPr lang="en-US" b="true" sz="29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าน INHERITANCE ในการตรวจสอบก่อนเข้าเมนู</a:t>
            </a:r>
          </a:p>
          <a:p>
            <a:pPr algn="ctr">
              <a:lnSpc>
                <a:spcPts val="338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532812" y="2168570"/>
            <a:ext cx="7443439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คลาส Driver ซึ่งอยู่ในไฟล์ src/model/Driver.java เป็นคลาสลูกที่สืบทอดจากคลาส User โดยใช้คำสั่ง extends User ทำให้สามารถใช้งานข้อมูลและเมธอดจากคลาส User ได้ทันที และสามารถเพิ่มข้อมูลเฉพาะของคนขับได้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0510" y="4151970"/>
            <a:ext cx="1151186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4"/>
              </a:lnSpc>
              <a:spcBef>
                <a:spcPct val="0"/>
              </a:spcBef>
            </a:pP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D</a:t>
            </a: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RIVER 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08730" y="4151970"/>
            <a:ext cx="1758255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4"/>
              </a:lnSpc>
              <a:spcBef>
                <a:spcPct val="0"/>
              </a:spcBef>
            </a:pP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PASSENG</a:t>
            </a: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ER :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50510" y="4802209"/>
            <a:ext cx="8097267" cy="1977240"/>
          </a:xfrm>
          <a:custGeom>
            <a:avLst/>
            <a:gdLst/>
            <a:ahLst/>
            <a:cxnLst/>
            <a:rect r="r" b="b" t="t" l="l"/>
            <a:pathLst>
              <a:path h="1977240" w="8097267">
                <a:moveTo>
                  <a:pt x="0" y="0"/>
                </a:moveTo>
                <a:lnTo>
                  <a:pt x="8097267" y="0"/>
                </a:lnTo>
                <a:lnTo>
                  <a:pt x="8097267" y="1977240"/>
                </a:lnTo>
                <a:lnTo>
                  <a:pt x="0" y="197724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08730" y="4802209"/>
            <a:ext cx="7577137" cy="2781640"/>
          </a:xfrm>
          <a:custGeom>
            <a:avLst/>
            <a:gdLst/>
            <a:ahLst/>
            <a:cxnLst/>
            <a:rect r="r" b="b" t="t" l="l"/>
            <a:pathLst>
              <a:path h="2781640" w="7577137">
                <a:moveTo>
                  <a:pt x="0" y="0"/>
                </a:moveTo>
                <a:lnTo>
                  <a:pt x="7577137" y="0"/>
                </a:lnTo>
                <a:lnTo>
                  <a:pt x="7577137" y="2781641"/>
                </a:lnTo>
                <a:lnTo>
                  <a:pt x="0" y="278164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50565" y="171450"/>
            <a:ext cx="13986869" cy="15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การใช้แนวคิด POLYMORPHISM </a:t>
            </a:r>
          </a:p>
          <a:p>
            <a:pPr algn="ctr">
              <a:lnSpc>
                <a:spcPts val="578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529819" y="1358682"/>
            <a:ext cx="13826946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ระบบถูกออกแบบโดยใช้แนว</a:t>
            </a: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คิด Polymorphism ซึ่งเมธอดหลักชื่อ login() ถูกกำหนดไว้ในคลาสแม่ (User) เพื่อรับค่า username และ password แต่ถูกนำมาเขียนทับ (Override) ในคลาส Passenger เพื่อเปลี่ยนพฤติกรรมการทำงานให้เหมาะสมกับผู้ใช้งานประเภทนักศึกษา โดยเปลี่ยนจากการตรวจสอบ username ปกติ เป็นการตรวจสอบ studentID แทน ทำให้เมธอดชื่อเดียวกันสามารถทำงานแตกต่างกันได้ตามบริบทของวัตถุที่เรียกใช้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707533" y="3485507"/>
            <a:ext cx="1888034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4"/>
              </a:lnSpc>
              <a:spcBef>
                <a:spcPct val="0"/>
              </a:spcBef>
            </a:pP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จากไฟล์: US</a:t>
            </a: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64038" y="3370867"/>
            <a:ext cx="2758232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4"/>
              </a:lnSpc>
              <a:spcBef>
                <a:spcPct val="0"/>
              </a:spcBef>
            </a:pP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จากไฟล์: PASSENG</a:t>
            </a: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ER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707533" y="4002397"/>
            <a:ext cx="5984494" cy="5934789"/>
          </a:xfrm>
          <a:custGeom>
            <a:avLst/>
            <a:gdLst/>
            <a:ahLst/>
            <a:cxnLst/>
            <a:rect r="r" b="b" t="t" l="l"/>
            <a:pathLst>
              <a:path h="5934789" w="5984494">
                <a:moveTo>
                  <a:pt x="0" y="0"/>
                </a:moveTo>
                <a:lnTo>
                  <a:pt x="5984494" y="0"/>
                </a:lnTo>
                <a:lnTo>
                  <a:pt x="5984494" y="5934789"/>
                </a:lnTo>
                <a:lnTo>
                  <a:pt x="0" y="59347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064038" y="3739190"/>
            <a:ext cx="5148400" cy="6529880"/>
          </a:xfrm>
          <a:custGeom>
            <a:avLst/>
            <a:gdLst/>
            <a:ahLst/>
            <a:cxnLst/>
            <a:rect r="r" b="b" t="t" l="l"/>
            <a:pathLst>
              <a:path h="6529880" w="5148400">
                <a:moveTo>
                  <a:pt x="0" y="0"/>
                </a:moveTo>
                <a:lnTo>
                  <a:pt x="5148400" y="0"/>
                </a:lnTo>
                <a:lnTo>
                  <a:pt x="5148400" y="6529880"/>
                </a:lnTo>
                <a:lnTo>
                  <a:pt x="0" y="65298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-5299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69273" y="263036"/>
            <a:ext cx="13149455" cy="78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การใช้แนวคิด COMPOSITION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07375" y="1600261"/>
            <a:ext cx="12112431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ระบบถูกออกแบบโดยใช้แนว</a:t>
            </a: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คิด Composition เพื่อสร้างวัตถุที่มีความซับซ้อน โดยการประกอบรวมวัตถุหลายส่วนเข้าด้วยกัน เห็นได้ชัดเจนในคลาส Schedule (ตารางเดินรถ) ที่ไม่ได้เก็บแค่ข้อมูลเวลา แต่ประกอบไปด้วยวัตถุ Route เพื่อระบุเส้นทาง, วัตถุ Vehicle เพื่อระบุรถที่ใช้, และวัตถุ Driver เพื่อระบุคนขับ ทำให้การจัดการรอบรถแต่ละรอบมีความยืดหยุ่นและสมบูรณ์ในตัวเอง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07375" y="3421139"/>
            <a:ext cx="2636937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4"/>
              </a:lnSpc>
              <a:spcBef>
                <a:spcPct val="0"/>
              </a:spcBef>
            </a:pP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จากไฟล์: SCH</a:t>
            </a: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EDULE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720127" y="3938029"/>
            <a:ext cx="11284020" cy="4838024"/>
          </a:xfrm>
          <a:custGeom>
            <a:avLst/>
            <a:gdLst/>
            <a:ahLst/>
            <a:cxnLst/>
            <a:rect r="r" b="b" t="t" l="l"/>
            <a:pathLst>
              <a:path h="4838024" w="11284020">
                <a:moveTo>
                  <a:pt x="0" y="0"/>
                </a:moveTo>
                <a:lnTo>
                  <a:pt x="11284020" y="0"/>
                </a:lnTo>
                <a:lnTo>
                  <a:pt x="11284020" y="4838023"/>
                </a:lnTo>
                <a:lnTo>
                  <a:pt x="0" y="48380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5294" y="5254531"/>
            <a:ext cx="6864713" cy="4208368"/>
          </a:xfrm>
          <a:custGeom>
            <a:avLst/>
            <a:gdLst/>
            <a:ahLst/>
            <a:cxnLst/>
            <a:rect r="r" b="b" t="t" l="l"/>
            <a:pathLst>
              <a:path h="4208368" w="6864713">
                <a:moveTo>
                  <a:pt x="0" y="0"/>
                </a:moveTo>
                <a:lnTo>
                  <a:pt x="6864712" y="0"/>
                </a:lnTo>
                <a:lnTo>
                  <a:pt x="6864712" y="4208368"/>
                </a:lnTo>
                <a:lnTo>
                  <a:pt x="0" y="420836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54134" y="5254531"/>
            <a:ext cx="8731733" cy="4208368"/>
          </a:xfrm>
          <a:custGeom>
            <a:avLst/>
            <a:gdLst/>
            <a:ahLst/>
            <a:cxnLst/>
            <a:rect r="r" b="b" t="t" l="l"/>
            <a:pathLst>
              <a:path h="4208368" w="8731733">
                <a:moveTo>
                  <a:pt x="0" y="0"/>
                </a:moveTo>
                <a:lnTo>
                  <a:pt x="8731733" y="0"/>
                </a:lnTo>
                <a:lnTo>
                  <a:pt x="8731733" y="4208368"/>
                </a:lnTo>
                <a:lnTo>
                  <a:pt x="0" y="420836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69273" y="263036"/>
            <a:ext cx="13149455" cy="78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การใช้แนวคิด  AGGREGATION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20127" y="1152115"/>
            <a:ext cx="12112431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แนว</a:t>
            </a: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คิด Aggregation (การรวมกลุ่ม) คือความสัมพันธ์แบบ "Has-A" (คลาสหนึ่งมีอีกคลาสหนึ่งเป็นส่วนประกอบ) โดยที่วัตถุที่เป็นส่วนประกอบสามารถแยกออกจากกันได้ (Independent) และมีวงจรชีวิตที่แยกจากกัน  ในโค้ดและเอกสารที่คุณส่งมา มีจุดที่แสดงถึงแนวคิดนี้ดังนี้ครับ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5294" y="4737641"/>
            <a:ext cx="2480072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4"/>
              </a:lnSpc>
              <a:spcBef>
                <a:spcPct val="0"/>
              </a:spcBef>
            </a:pP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จากไฟล์: BOOKING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54134" y="4737641"/>
            <a:ext cx="2758232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4"/>
              </a:lnSpc>
              <a:spcBef>
                <a:spcPct val="0"/>
              </a:spcBef>
            </a:pP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จากไฟล์: PASSENGER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2077" y="2860265"/>
            <a:ext cx="6571145" cy="1446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0"/>
              </a:lnSpc>
              <a:spcBef>
                <a:spcPct val="0"/>
              </a:spcBef>
            </a:pPr>
            <a:r>
              <a:rPr lang="en-US" sz="2000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1. ในคลาส BOOKING (การจอง)</a:t>
            </a:r>
          </a:p>
          <a:p>
            <a:pPr algn="l">
              <a:lnSpc>
                <a:spcPts val="2260"/>
              </a:lnSpc>
              <a:spcBef>
                <a:spcPct val="0"/>
              </a:spcBef>
            </a:pPr>
            <a:r>
              <a:rPr lang="en-US" sz="2000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คลาสนี้เป็นตัวอย่างของ PURE AGGREGATION เพราะเป็นการนำวัตถุที่สร้างไว้แล้วจากที่อื่น (เช่น ผู้โดยสาร, ตารางเดินรถ, จุดจอด) มาอ้างอิงรวมกันเพื่อสร้างข้อมูลการจอง หากรายการจองถูกลบไป ข้อมูลผู้โดยสารหรือตารางรถก็ยังคงอยู่ในระบบไม่ได้หายไปตามกัน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54134" y="2860265"/>
            <a:ext cx="6219057" cy="1446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0"/>
              </a:lnSpc>
              <a:spcBef>
                <a:spcPct val="0"/>
              </a:spcBef>
            </a:pPr>
            <a:r>
              <a:rPr lang="en-US" sz="2000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2</a:t>
            </a:r>
            <a:r>
              <a:rPr lang="en-US" sz="2000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. ในคลาส PASSENGER (ผู้โดยสาร)</a:t>
            </a:r>
          </a:p>
          <a:p>
            <a:pPr algn="l">
              <a:lnSpc>
                <a:spcPts val="2260"/>
              </a:lnSpc>
              <a:spcBef>
                <a:spcPct val="0"/>
              </a:spcBef>
            </a:pPr>
            <a:r>
              <a:rPr lang="en-US" sz="2000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ในคลาสนี้มีการใช้ AGGREGATION ในรูปแบบของการเก็บรายการ (LIST) ของวัตถุ BOOKING ซึ่งหมายความว่าผู้โดยสารหนึ่งคนสามารถมีประวัติการจองได้หลายรายการ</a:t>
            </a:r>
          </a:p>
          <a:p>
            <a:pPr algn="l">
              <a:lnSpc>
                <a:spcPts val="22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69273" y="190301"/>
            <a:ext cx="13149455" cy="15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 การใช้แนวคิด ENCAPSULATION </a:t>
            </a:r>
          </a:p>
          <a:p>
            <a:pPr algn="ctr">
              <a:lnSpc>
                <a:spcPts val="578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707375" y="1600261"/>
            <a:ext cx="12877839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ระบบถูกออกแบบโดยใช้แนว</a:t>
            </a: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คิด Encapsulation เพื่อปกป้องความถูกต้องของข้อมูล โดยการกำหนดให้ตัวแปรสำคัญเป็น private เช่น ในคลาส Vehicle ตัวแปร seatMap (ผังที่นั่ง) ถูกซ่อนไว้ไม่ให้เข้าถึงโดยตรงจากภายนอก หากต้องการจองที่นั่งจะต้องทำผ่านเมธอด reserveSeat() เท่านั้น ซึ่งภายในเมธอดจะมีการตรวจสอบเงื่อนไข isSeatAvailable() ก่อนเสมอ เพื่อป้องกันข้อมูลที่ผิดพลาดหรือการจองซ้ำซ้อน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67589" y="3421139"/>
            <a:ext cx="2316510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4"/>
              </a:lnSpc>
              <a:spcBef>
                <a:spcPct val="0"/>
              </a:spcBef>
            </a:pP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จากไฟล์: VEHIC</a:t>
            </a: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LE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720127" y="3938029"/>
            <a:ext cx="8710111" cy="5226067"/>
          </a:xfrm>
          <a:custGeom>
            <a:avLst/>
            <a:gdLst/>
            <a:ahLst/>
            <a:cxnLst/>
            <a:rect r="r" b="b" t="t" l="l"/>
            <a:pathLst>
              <a:path h="5226067" w="8710111">
                <a:moveTo>
                  <a:pt x="0" y="0"/>
                </a:moveTo>
                <a:lnTo>
                  <a:pt x="8710112" y="0"/>
                </a:lnTo>
                <a:lnTo>
                  <a:pt x="8710112" y="5226066"/>
                </a:lnTo>
                <a:lnTo>
                  <a:pt x="0" y="52260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83539" y="307956"/>
            <a:ext cx="12146897" cy="15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การใช้แนวคิด DATA STRUCTURES </a:t>
            </a:r>
          </a:p>
          <a:p>
            <a:pPr algn="ctr">
              <a:lnSpc>
                <a:spcPts val="578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707375" y="1600261"/>
            <a:ext cx="12112431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การเลือกใช้</a:t>
            </a: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Collection Framework ที่เหมาะสมกับโจทย์ เช่น การใช้ HashMap ในการจัดการที่นั่ง แทนที่จะใช้ Array ธรรมดา เพื่อความเร็วในการค้นหาและตรวจสอบสถานะ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20127" y="2658171"/>
            <a:ext cx="2316510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4"/>
              </a:lnSpc>
              <a:spcBef>
                <a:spcPct val="0"/>
              </a:spcBef>
            </a:pP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จากไฟล์: VEHIC</a:t>
            </a: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LE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707375" y="3175061"/>
            <a:ext cx="5778740" cy="6868868"/>
          </a:xfrm>
          <a:custGeom>
            <a:avLst/>
            <a:gdLst/>
            <a:ahLst/>
            <a:cxnLst/>
            <a:rect r="r" b="b" t="t" l="l"/>
            <a:pathLst>
              <a:path h="6868868" w="5778740">
                <a:moveTo>
                  <a:pt x="0" y="0"/>
                </a:moveTo>
                <a:lnTo>
                  <a:pt x="5778740" y="0"/>
                </a:lnTo>
                <a:lnTo>
                  <a:pt x="5778740" y="6868868"/>
                </a:lnTo>
                <a:lnTo>
                  <a:pt x="0" y="686886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69273" y="424961"/>
            <a:ext cx="13149455" cy="78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 การใช้แนวคิด DESIGN PATTERNS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07375" y="1600261"/>
            <a:ext cx="12112431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การนำรูปแบบการแก้ปัญ</a:t>
            </a: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หามาตรฐานมาใช้ โดยเฉพาะ Observer Pattern เพื่อจัดการการแจ้งเตือนสถานะแบบ Real-time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37800" y="2381946"/>
            <a:ext cx="4870698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4"/>
              </a:lnSpc>
              <a:spcBef>
                <a:spcPct val="0"/>
              </a:spcBef>
            </a:pP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จากไฟล์: STATIONSTATUSMANAG</a:t>
            </a: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ER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763591" y="2898836"/>
            <a:ext cx="5933535" cy="7145869"/>
          </a:xfrm>
          <a:custGeom>
            <a:avLst/>
            <a:gdLst/>
            <a:ahLst/>
            <a:cxnLst/>
            <a:rect r="r" b="b" t="t" l="l"/>
            <a:pathLst>
              <a:path h="7145869" w="5933535">
                <a:moveTo>
                  <a:pt x="0" y="0"/>
                </a:moveTo>
                <a:lnTo>
                  <a:pt x="5933535" y="0"/>
                </a:lnTo>
                <a:lnTo>
                  <a:pt x="5933535" y="7145869"/>
                </a:lnTo>
                <a:lnTo>
                  <a:pt x="0" y="71458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53849" y="237442"/>
            <a:ext cx="12737535" cy="15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การนำเข้าข้อมูลจากไฟล์ </a:t>
            </a:r>
          </a:p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(FILE INPUT / DATABASE .DAT)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20127" y="1971199"/>
            <a:ext cx="12112431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ระบบมีการจัดเก็บข้อมูลแบบฐานข้อมูลไฟล์ โดยใช้ไฟล์ sut_transport_db_new.dat และนำข้อมูลกลับมาใช้งานเมื่อเริ่มโปรแกร</a:t>
            </a: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ม ผ่านการอ่าน Object ด้วย ObjectInputStream (เช่น รายการผู้โดยสาร คนขับ ตารางเวลา ฯลฯ) หากไฟล์ไม่มีอยู่หรืออ่านไม่สำเร็จ ระบบจะคืนค่า false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720127" y="3730036"/>
            <a:ext cx="9003441" cy="5099956"/>
          </a:xfrm>
          <a:custGeom>
            <a:avLst/>
            <a:gdLst/>
            <a:ahLst/>
            <a:cxnLst/>
            <a:rect r="r" b="b" t="t" l="l"/>
            <a:pathLst>
              <a:path h="5099956" w="9003441">
                <a:moveTo>
                  <a:pt x="0" y="0"/>
                </a:moveTo>
                <a:lnTo>
                  <a:pt x="9003442" y="0"/>
                </a:lnTo>
                <a:lnTo>
                  <a:pt x="9003442" y="5099956"/>
                </a:lnTo>
                <a:lnTo>
                  <a:pt x="0" y="509995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42496" y="900313"/>
            <a:ext cx="13149455" cy="15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การบันทึกข้อมูลลงไฟล์ </a:t>
            </a:r>
          </a:p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(FILE OUTPUT / DATABASE .DAT)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69273" y="2851211"/>
            <a:ext cx="12112431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เมื่อมีการเปลี่ยนแปลงข้อมูล เช่น สมัครสมาชิก จองตั๋ว หรือแก้ไขตารางเวลา ระบบจะบันทึกข้อมูลกลับลงไฟล์</a:t>
            </a: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.dat ด้วย ObjectOutputStream เพื่อเก็บสถานะล่าสุดของระบบไว้ใช้งานรอบถัดไป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442496" y="4425704"/>
            <a:ext cx="9303738" cy="2704575"/>
          </a:xfrm>
          <a:custGeom>
            <a:avLst/>
            <a:gdLst/>
            <a:ahLst/>
            <a:cxnLst/>
            <a:rect r="r" b="b" t="t" l="l"/>
            <a:pathLst>
              <a:path h="2704575" w="9303738">
                <a:moveTo>
                  <a:pt x="0" y="0"/>
                </a:moveTo>
                <a:lnTo>
                  <a:pt x="9303738" y="0"/>
                </a:lnTo>
                <a:lnTo>
                  <a:pt x="9303738" y="2704575"/>
                </a:lnTo>
                <a:lnTo>
                  <a:pt x="0" y="27045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06935" y="4202265"/>
            <a:ext cx="7553889" cy="4944563"/>
          </a:xfrm>
          <a:custGeom>
            <a:avLst/>
            <a:gdLst/>
            <a:ahLst/>
            <a:cxnLst/>
            <a:rect r="r" b="b" t="t" l="l"/>
            <a:pathLst>
              <a:path h="4944563" w="7553889">
                <a:moveTo>
                  <a:pt x="0" y="0"/>
                </a:moveTo>
                <a:lnTo>
                  <a:pt x="7553889" y="0"/>
                </a:lnTo>
                <a:lnTo>
                  <a:pt x="7553889" y="4944563"/>
                </a:lnTo>
                <a:lnTo>
                  <a:pt x="0" y="49445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142699" y="4373936"/>
            <a:ext cx="7799961" cy="3151728"/>
          </a:xfrm>
          <a:custGeom>
            <a:avLst/>
            <a:gdLst/>
            <a:ahLst/>
            <a:cxnLst/>
            <a:rect r="r" b="b" t="t" l="l"/>
            <a:pathLst>
              <a:path h="3151728" w="7799961">
                <a:moveTo>
                  <a:pt x="0" y="0"/>
                </a:moveTo>
                <a:lnTo>
                  <a:pt x="7799960" y="0"/>
                </a:lnTo>
                <a:lnTo>
                  <a:pt x="7799960" y="3151729"/>
                </a:lnTo>
                <a:lnTo>
                  <a:pt x="0" y="315172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99195" y="307956"/>
            <a:ext cx="14488195" cy="78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การใช้แนวคิด  SOURCE ในการพัฒนา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06935" y="1902838"/>
            <a:ext cx="7840128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1. แหล่งกำเนิดสถานะการเคลื่อนที่ (Movement Status Source)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คือแนวคิดการสร้างแหล่งข้อมูลกลางเพื่อระบุสถานะ "สด" ของการเดินรถ (กำลังวิ่งหรือจอด) ซึ่งแยกออกจากข้อมูลตารางเวลาปกติ เพื่อใช้ในการแจ้งเตือนหน้าจอ UI แบบ Real-time</a:t>
            </a: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879749" y="3593526"/>
            <a:ext cx="2807196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4"/>
              </a:lnSpc>
              <a:spcBef>
                <a:spcPct val="0"/>
              </a:spcBef>
            </a:pP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จากไฟล์: BUSSTATUS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42699" y="1902838"/>
            <a:ext cx="7840128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2. แหล่งระบุตัวตนสถานที่ (Stop Identity Source)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คือแนวคิดการกำหนด Object พื้นฐานที่สุดเพื่อเป็นแหล่งอ้างอิงรหัส (ID) และชื่อ (Name) ของสถานที่ เพื่อให้ทุกส่วนในระบบเรียกใช้ชื่อสถานีได้ตรงกันและไม่ผิดเพี้ยน</a:t>
            </a: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142699" y="3593526"/>
            <a:ext cx="1929854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4"/>
              </a:lnSpc>
              <a:spcBef>
                <a:spcPct val="0"/>
              </a:spcBef>
            </a:pP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จากไฟล์: STOP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22457" y="237442"/>
            <a:ext cx="13149455" cy="78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การใช้แนวคิด SEARCH ในการพัฒนา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20127" y="1152115"/>
            <a:ext cx="14347423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การค้นหาข้อมูลแบบเจาะจงด้วยคีย์ (Key-based Search)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เป็นการใช้โครงสร้างข้อมูล</a:t>
            </a: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Map เพื่อค้นหาข้อมูลที่นั่งได้อย่างรวดเร็ว โดยอาศัยรหัสที่นั่งเป็นคีย์ในการเข้าถึงข้อมูลทันที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720127" y="2289175"/>
            <a:ext cx="2316510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4"/>
              </a:lnSpc>
              <a:spcBef>
                <a:spcPct val="0"/>
              </a:spcBef>
            </a:pP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จากไฟล์: VEHICL</a:t>
            </a: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720127" y="2717315"/>
            <a:ext cx="5902333" cy="6356359"/>
          </a:xfrm>
          <a:custGeom>
            <a:avLst/>
            <a:gdLst/>
            <a:ahLst/>
            <a:cxnLst/>
            <a:rect r="r" b="b" t="t" l="l"/>
            <a:pathLst>
              <a:path h="6356359" w="5902333">
                <a:moveTo>
                  <a:pt x="0" y="0"/>
                </a:moveTo>
                <a:lnTo>
                  <a:pt x="5902333" y="0"/>
                </a:lnTo>
                <a:lnTo>
                  <a:pt x="5902333" y="6356359"/>
                </a:lnTo>
                <a:lnTo>
                  <a:pt x="0" y="635635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99195" y="307956"/>
            <a:ext cx="14488195" cy="15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การค้นหาข้อมูลเพื่อการยกเลิกและคืนทรัพยากร (SEARCH FOR RESOURCE RECOVERY)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20127" y="2039280"/>
            <a:ext cx="1423894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การค้นหาอ็อบเจกต์ที่ต้องการในรายการ และสืบค้นข้อมูลต่อเนื่องเพื่อทำการอัปเดตสถานะในส่วนอื่นๆ ของระบบ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07375" y="2732771"/>
            <a:ext cx="2758232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4"/>
              </a:lnSpc>
              <a:spcBef>
                <a:spcPct val="0"/>
              </a:spcBef>
            </a:pP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จากไฟล์: PASSENGER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720127" y="3163730"/>
            <a:ext cx="5481279" cy="6602216"/>
          </a:xfrm>
          <a:custGeom>
            <a:avLst/>
            <a:gdLst/>
            <a:ahLst/>
            <a:cxnLst/>
            <a:rect r="r" b="b" t="t" l="l"/>
            <a:pathLst>
              <a:path h="6602216" w="5481279">
                <a:moveTo>
                  <a:pt x="0" y="0"/>
                </a:moveTo>
                <a:lnTo>
                  <a:pt x="5481279" y="0"/>
                </a:lnTo>
                <a:lnTo>
                  <a:pt x="5481279" y="6602216"/>
                </a:lnTo>
                <a:lnTo>
                  <a:pt x="0" y="660221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30436" y="-1693231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19806" y="-1111111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4" y="0"/>
                </a:lnTo>
                <a:lnTo>
                  <a:pt x="2139264" y="1781423"/>
                </a:lnTo>
                <a:lnTo>
                  <a:pt x="0" y="1781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92990" y="55958"/>
            <a:ext cx="14488195" cy="15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การค้นหาเชิงเส้นและตรวจสอบสถานะ (LINEAR SEARCH &amp; STATUS CHECKING)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07375" y="1857375"/>
            <a:ext cx="12112431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การค้นหาข้อมูลใน List เพื่อหาตำแหน่งปัจจุบันของรถบัส</a:t>
            </a: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 หรือค้นหาข้อมูลสถานีที่ตรงตามเงื่อนไขที่กำหนด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07375" y="2727325"/>
            <a:ext cx="4870698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4"/>
              </a:lnSpc>
              <a:spcBef>
                <a:spcPct val="0"/>
              </a:spcBef>
            </a:pP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จากไฟล์: STATIONSTATUSMANAG</a:t>
            </a: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ER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707375" y="3164894"/>
            <a:ext cx="5341646" cy="6353638"/>
          </a:xfrm>
          <a:custGeom>
            <a:avLst/>
            <a:gdLst/>
            <a:ahLst/>
            <a:cxnLst/>
            <a:rect r="r" b="b" t="t" l="l"/>
            <a:pathLst>
              <a:path h="6353638" w="5341646">
                <a:moveTo>
                  <a:pt x="0" y="0"/>
                </a:moveTo>
                <a:lnTo>
                  <a:pt x="5341647" y="0"/>
                </a:lnTo>
                <a:lnTo>
                  <a:pt x="5341647" y="6353638"/>
                </a:lnTo>
                <a:lnTo>
                  <a:pt x="0" y="635363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222980" y="-1613446"/>
            <a:ext cx="5310862" cy="3518446"/>
          </a:xfrm>
          <a:custGeom>
            <a:avLst/>
            <a:gdLst/>
            <a:ahLst/>
            <a:cxnLst/>
            <a:rect r="r" b="b" t="t" l="l"/>
            <a:pathLst>
              <a:path h="3518446" w="5310862">
                <a:moveTo>
                  <a:pt x="0" y="3518446"/>
                </a:moveTo>
                <a:lnTo>
                  <a:pt x="5310862" y="3518446"/>
                </a:lnTo>
                <a:lnTo>
                  <a:pt x="5310862" y="0"/>
                </a:lnTo>
                <a:lnTo>
                  <a:pt x="0" y="0"/>
                </a:lnTo>
                <a:lnTo>
                  <a:pt x="0" y="3518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7450788" y="457533"/>
            <a:ext cx="1837836" cy="2231368"/>
          </a:xfrm>
          <a:custGeom>
            <a:avLst/>
            <a:gdLst/>
            <a:ahLst/>
            <a:cxnLst/>
            <a:rect r="r" b="b" t="t" l="l"/>
            <a:pathLst>
              <a:path h="2231368" w="1837836">
                <a:moveTo>
                  <a:pt x="0" y="0"/>
                </a:moveTo>
                <a:lnTo>
                  <a:pt x="1837836" y="0"/>
                </a:lnTo>
                <a:lnTo>
                  <a:pt x="1837836" y="2231368"/>
                </a:lnTo>
                <a:lnTo>
                  <a:pt x="0" y="223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2723" y="-279145"/>
            <a:ext cx="2370256" cy="1986705"/>
          </a:xfrm>
          <a:custGeom>
            <a:avLst/>
            <a:gdLst/>
            <a:ahLst/>
            <a:cxnLst/>
            <a:rect r="r" b="b" t="t" l="l"/>
            <a:pathLst>
              <a:path h="1986705" w="2370256">
                <a:moveTo>
                  <a:pt x="0" y="0"/>
                </a:moveTo>
                <a:lnTo>
                  <a:pt x="2370256" y="0"/>
                </a:lnTo>
                <a:lnTo>
                  <a:pt x="2370256" y="1986705"/>
                </a:lnTo>
                <a:lnTo>
                  <a:pt x="0" y="1986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782661" y="-1213192"/>
            <a:ext cx="1874933" cy="2426384"/>
          </a:xfrm>
          <a:custGeom>
            <a:avLst/>
            <a:gdLst/>
            <a:ahLst/>
            <a:cxnLst/>
            <a:rect r="r" b="b" t="t" l="l"/>
            <a:pathLst>
              <a:path h="2426384" w="1874933">
                <a:moveTo>
                  <a:pt x="1874933" y="0"/>
                </a:moveTo>
                <a:lnTo>
                  <a:pt x="0" y="0"/>
                </a:lnTo>
                <a:lnTo>
                  <a:pt x="0" y="2426384"/>
                </a:lnTo>
                <a:lnTo>
                  <a:pt x="1874933" y="2426384"/>
                </a:lnTo>
                <a:lnTo>
                  <a:pt x="18749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09420" y="-937467"/>
            <a:ext cx="2139264" cy="1781423"/>
          </a:xfrm>
          <a:custGeom>
            <a:avLst/>
            <a:gdLst/>
            <a:ahLst/>
            <a:cxnLst/>
            <a:rect r="r" b="b" t="t" l="l"/>
            <a:pathLst>
              <a:path h="1781423" w="2139264">
                <a:moveTo>
                  <a:pt x="0" y="0"/>
                </a:moveTo>
                <a:lnTo>
                  <a:pt x="2139263" y="0"/>
                </a:lnTo>
                <a:lnTo>
                  <a:pt x="2139263" y="1781424"/>
                </a:lnTo>
                <a:lnTo>
                  <a:pt x="0" y="17814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99195" y="190301"/>
            <a:ext cx="14488195" cy="151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6291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การค้นหาความสัมพันธ์ผ่านการอ้างอิงอ็อบเจกต์ (OBJECT REFERENCE LOOKUP)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07375" y="1857375"/>
            <a:ext cx="12112431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เป็นการค้นหาข้อมูลที่เชื่อมโยงกันระหว่างหลายคลาส เช่น เมื่อทราบข้อมูลการจอง (Booking) 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จะสามารถส</a:t>
            </a:r>
            <a:r>
              <a:rPr lang="en-US" sz="2499">
                <a:solidFill>
                  <a:srgbClr val="AF5117"/>
                </a:solidFill>
                <a:latin typeface="Itim"/>
                <a:ea typeface="Itim"/>
                <a:cs typeface="Itim"/>
                <a:sym typeface="Itim"/>
              </a:rPr>
              <a:t>ืบค้นย้อนกลับไปหาผู้โดยสารและตารางเดินรถได้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720127" y="2819611"/>
            <a:ext cx="2480072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4"/>
              </a:lnSpc>
              <a:spcBef>
                <a:spcPct val="0"/>
              </a:spcBef>
            </a:pPr>
            <a:r>
              <a:rPr lang="en-US" b="true" sz="3499">
                <a:solidFill>
                  <a:srgbClr val="AF5117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จากไฟล์: BOOKING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720127" y="3246393"/>
            <a:ext cx="5724180" cy="6158505"/>
          </a:xfrm>
          <a:custGeom>
            <a:avLst/>
            <a:gdLst/>
            <a:ahLst/>
            <a:cxnLst/>
            <a:rect r="r" b="b" t="t" l="l"/>
            <a:pathLst>
              <a:path h="6158505" w="5724180">
                <a:moveTo>
                  <a:pt x="0" y="0"/>
                </a:moveTo>
                <a:lnTo>
                  <a:pt x="5724180" y="0"/>
                </a:lnTo>
                <a:lnTo>
                  <a:pt x="5724180" y="6158505"/>
                </a:lnTo>
                <a:lnTo>
                  <a:pt x="0" y="615850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3289515" y="-1693231"/>
            <a:ext cx="7151783" cy="4738056"/>
          </a:xfrm>
          <a:custGeom>
            <a:avLst/>
            <a:gdLst/>
            <a:ahLst/>
            <a:cxnLst/>
            <a:rect r="r" b="b" t="t" l="l"/>
            <a:pathLst>
              <a:path h="4738056" w="7151783">
                <a:moveTo>
                  <a:pt x="0" y="4738056"/>
                </a:moveTo>
                <a:lnTo>
                  <a:pt x="7151783" y="4738056"/>
                </a:lnTo>
                <a:lnTo>
                  <a:pt x="7151783" y="0"/>
                </a:lnTo>
                <a:lnTo>
                  <a:pt x="0" y="0"/>
                </a:lnTo>
                <a:lnTo>
                  <a:pt x="0" y="473805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9200">
            <a:off x="16742874" y="605283"/>
            <a:ext cx="2380776" cy="2890567"/>
          </a:xfrm>
          <a:custGeom>
            <a:avLst/>
            <a:gdLst/>
            <a:ahLst/>
            <a:cxnLst/>
            <a:rect r="r" b="b" t="t" l="l"/>
            <a:pathLst>
              <a:path h="2890567" w="2380776">
                <a:moveTo>
                  <a:pt x="0" y="0"/>
                </a:moveTo>
                <a:lnTo>
                  <a:pt x="2380776" y="0"/>
                </a:lnTo>
                <a:lnTo>
                  <a:pt x="2380776" y="2890567"/>
                </a:lnTo>
                <a:lnTo>
                  <a:pt x="0" y="28905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04858" y="-66508"/>
            <a:ext cx="4267117" cy="3576620"/>
          </a:xfrm>
          <a:custGeom>
            <a:avLst/>
            <a:gdLst/>
            <a:ahLst/>
            <a:cxnLst/>
            <a:rect r="r" b="b" t="t" l="l"/>
            <a:pathLst>
              <a:path h="3576620" w="4267117">
                <a:moveTo>
                  <a:pt x="0" y="0"/>
                </a:moveTo>
                <a:lnTo>
                  <a:pt x="4267116" y="0"/>
                </a:lnTo>
                <a:lnTo>
                  <a:pt x="4267116" y="3576619"/>
                </a:lnTo>
                <a:lnTo>
                  <a:pt x="0" y="35766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11099">
            <a:off x="13997861" y="5621011"/>
            <a:ext cx="6522879" cy="5253882"/>
          </a:xfrm>
          <a:custGeom>
            <a:avLst/>
            <a:gdLst/>
            <a:ahLst/>
            <a:cxnLst/>
            <a:rect r="r" b="b" t="t" l="l"/>
            <a:pathLst>
              <a:path h="5253882" w="6522879">
                <a:moveTo>
                  <a:pt x="0" y="0"/>
                </a:moveTo>
                <a:lnTo>
                  <a:pt x="6522878" y="0"/>
                </a:lnTo>
                <a:lnTo>
                  <a:pt x="6522878" y="5253882"/>
                </a:lnTo>
                <a:lnTo>
                  <a:pt x="0" y="52538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657560" y="7659651"/>
            <a:ext cx="7614767" cy="6368714"/>
          </a:xfrm>
          <a:custGeom>
            <a:avLst/>
            <a:gdLst/>
            <a:ahLst/>
            <a:cxnLst/>
            <a:rect r="r" b="b" t="t" l="l"/>
            <a:pathLst>
              <a:path h="6368714" w="7614767">
                <a:moveTo>
                  <a:pt x="0" y="0"/>
                </a:moveTo>
                <a:lnTo>
                  <a:pt x="7614767" y="0"/>
                </a:lnTo>
                <a:lnTo>
                  <a:pt x="7614767" y="6368714"/>
                </a:lnTo>
                <a:lnTo>
                  <a:pt x="0" y="6368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71880">
            <a:off x="658986" y="7361321"/>
            <a:ext cx="1510953" cy="2580820"/>
          </a:xfrm>
          <a:custGeom>
            <a:avLst/>
            <a:gdLst/>
            <a:ahLst/>
            <a:cxnLst/>
            <a:rect r="r" b="b" t="t" l="l"/>
            <a:pathLst>
              <a:path h="2580820" w="1510953">
                <a:moveTo>
                  <a:pt x="0" y="0"/>
                </a:moveTo>
                <a:lnTo>
                  <a:pt x="1510953" y="0"/>
                </a:lnTo>
                <a:lnTo>
                  <a:pt x="1510953" y="2580820"/>
                </a:lnTo>
                <a:lnTo>
                  <a:pt x="0" y="25808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5400000">
            <a:off x="10314559" y="8111373"/>
            <a:ext cx="3075900" cy="3980577"/>
          </a:xfrm>
          <a:custGeom>
            <a:avLst/>
            <a:gdLst/>
            <a:ahLst/>
            <a:cxnLst/>
            <a:rect r="r" b="b" t="t" l="l"/>
            <a:pathLst>
              <a:path h="3980577" w="3075900">
                <a:moveTo>
                  <a:pt x="3075901" y="0"/>
                </a:moveTo>
                <a:lnTo>
                  <a:pt x="0" y="0"/>
                </a:lnTo>
                <a:lnTo>
                  <a:pt x="0" y="3980577"/>
                </a:lnTo>
                <a:lnTo>
                  <a:pt x="3075901" y="3980577"/>
                </a:lnTo>
                <a:lnTo>
                  <a:pt x="3075901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5400000">
            <a:off x="4011779" y="-1656960"/>
            <a:ext cx="3075900" cy="3980577"/>
          </a:xfrm>
          <a:custGeom>
            <a:avLst/>
            <a:gdLst/>
            <a:ahLst/>
            <a:cxnLst/>
            <a:rect r="r" b="b" t="t" l="l"/>
            <a:pathLst>
              <a:path h="3980577" w="3075900">
                <a:moveTo>
                  <a:pt x="3075901" y="0"/>
                </a:moveTo>
                <a:lnTo>
                  <a:pt x="0" y="0"/>
                </a:lnTo>
                <a:lnTo>
                  <a:pt x="0" y="3980577"/>
                </a:lnTo>
                <a:lnTo>
                  <a:pt x="3075901" y="3980577"/>
                </a:lnTo>
                <a:lnTo>
                  <a:pt x="3075901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162258" y="9455535"/>
            <a:ext cx="3334760" cy="2776946"/>
          </a:xfrm>
          <a:custGeom>
            <a:avLst/>
            <a:gdLst/>
            <a:ahLst/>
            <a:cxnLst/>
            <a:rect r="r" b="b" t="t" l="l"/>
            <a:pathLst>
              <a:path h="2776946" w="3334760">
                <a:moveTo>
                  <a:pt x="0" y="0"/>
                </a:moveTo>
                <a:lnTo>
                  <a:pt x="3334760" y="0"/>
                </a:lnTo>
                <a:lnTo>
                  <a:pt x="3334760" y="2776946"/>
                </a:lnTo>
                <a:lnTo>
                  <a:pt x="0" y="277694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289515" y="-1055144"/>
            <a:ext cx="3334760" cy="2776946"/>
          </a:xfrm>
          <a:custGeom>
            <a:avLst/>
            <a:gdLst/>
            <a:ahLst/>
            <a:cxnLst/>
            <a:rect r="r" b="b" t="t" l="l"/>
            <a:pathLst>
              <a:path h="2776946" w="3334760">
                <a:moveTo>
                  <a:pt x="0" y="0"/>
                </a:moveTo>
                <a:lnTo>
                  <a:pt x="3334760" y="0"/>
                </a:lnTo>
                <a:lnTo>
                  <a:pt x="3334760" y="2776946"/>
                </a:lnTo>
                <a:lnTo>
                  <a:pt x="0" y="277694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129974" y="3113630"/>
            <a:ext cx="12028053" cy="4555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04"/>
              </a:lnSpc>
            </a:pPr>
            <a:r>
              <a:rPr lang="en-US" sz="18808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THANK</a:t>
            </a:r>
          </a:p>
          <a:p>
            <a:pPr algn="ctr">
              <a:lnSpc>
                <a:spcPts val="17304"/>
              </a:lnSpc>
            </a:pPr>
            <a:r>
              <a:rPr lang="en-US" sz="18808">
                <a:solidFill>
                  <a:srgbClr val="AF5117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DAG9pl-ITXk</dc:identifier>
  <dcterms:modified xsi:type="dcterms:W3CDTF">2011-08-01T06:04:30Z</dcterms:modified>
  <cp:revision>1</cp:revision>
  <dc:title>Orange Playful Craft Group Project Presentation</dc:title>
</cp:coreProperties>
</file>